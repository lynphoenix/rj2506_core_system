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8" r:id="rId4"/>
    <p:sldId id="26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4719"/>
  </p:normalViewPr>
  <p:slideViewPr>
    <p:cSldViewPr snapToGrid="0" snapToObjects="1">
      <p:cViewPr varScale="1">
        <p:scale>
          <a:sx n="144" d="100"/>
          <a:sy n="144" d="100"/>
        </p:scale>
        <p:origin x="2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9144000" cy="2743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8650" y="3108960"/>
            <a:ext cx="810670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lang="zh-CN" altLang="en-US" sz="4400" dirty="0">
                <a:latin typeface="SimHei" panose="02010609060101010101" pitchFamily="49" charset="-122"/>
                <a:ea typeface="SimHei" panose="02010609060101010101" pitchFamily="49" charset="-122"/>
              </a:rPr>
              <a:t>搬运机器人</a:t>
            </a:r>
            <a:r>
              <a:rPr sz="4400" dirty="0" err="1">
                <a:latin typeface="SimHei" panose="02010609060101010101" pitchFamily="49" charset="-122"/>
                <a:ea typeface="SimHei" panose="02010609060101010101" pitchFamily="49" charset="-122"/>
              </a:rPr>
              <a:t>全局架构与任务拆解</a:t>
            </a:r>
            <a:endParaRPr sz="4400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070099" y="5943600"/>
            <a:ext cx="100380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rPr dirty="0"/>
              <a:t>2026.03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Microsoft YaHei"/>
              </a:defRPr>
            </a:pPr>
            <a:r>
              <a:t>整体任务描述 (The Mission)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87878"/>
                </a:solidFill>
                <a:latin typeface="Microsoft YaHei"/>
              </a:defRPr>
            </a:pPr>
            <a:r>
              <a:t>RJ2506 双臂轮式复合机器人 | 核心技术攻坚与系统架构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33333"/>
                </a:solidFill>
              </a:defRPr>
            </a:pPr>
            <a:r>
              <a:rPr dirty="0"/>
              <a:t>RJ2506 </a:t>
            </a:r>
            <a:r>
              <a:rPr dirty="0" err="1"/>
              <a:t>是一款双臂轮式复合机器人，旨在解决工厂半结构化环境下的高精度堆垛与搬运问题</a:t>
            </a:r>
            <a:r>
              <a:rPr dirty="0"/>
              <a:t>。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D83148EB-2844-C544-0C71-2590BE8721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29223" b="23463"/>
          <a:stretch>
            <a:fillRect/>
          </a:stretch>
        </p:blipFill>
        <p:spPr bwMode="auto">
          <a:xfrm>
            <a:off x="1336089" y="2348294"/>
            <a:ext cx="6471821" cy="3936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14EC1-9DBA-512E-E81E-49BC31E84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28CBF-D76B-7240-3093-BE112B007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场景 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：大框码料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37D51E-164B-5864-EA44-6A2AB4FE1951}"/>
              </a:ext>
            </a:extLst>
          </p:cNvPr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5D578B-79F3-25E9-D45F-BF0FDC4F3065}"/>
              </a:ext>
            </a:extLst>
          </p:cNvPr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87878"/>
                </a:solidFill>
                <a:latin typeface="Microsoft YaHei"/>
              </a:defRPr>
            </a:pPr>
            <a:r>
              <a:t>RJ2506 双臂轮式复合机器人 | 核心技术攻坚与系统架构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FCBD532-C04B-E6FB-78EC-512D42D33C25}"/>
              </a:ext>
            </a:extLst>
          </p:cNvPr>
          <p:cNvSpPr/>
          <p:nvPr/>
        </p:nvSpPr>
        <p:spPr>
          <a:xfrm>
            <a:off x="1631271" y="1417638"/>
            <a:ext cx="5881457" cy="713003"/>
          </a:xfrm>
          <a:prstGeom prst="roundRect">
            <a:avLst/>
          </a:prstGeom>
          <a:solidFill>
            <a:srgbClr val="FFFF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目标</a:t>
            </a:r>
            <a:r>
              <a:rPr dirty="0"/>
              <a:t>: </a:t>
            </a:r>
            <a:r>
              <a:rPr dirty="0" err="1"/>
              <a:t>双手从下料平台同时抓取大料片，搬运并精准码放到大框中</a:t>
            </a:r>
            <a:br>
              <a:rPr dirty="0"/>
            </a:br>
            <a:r>
              <a:rPr dirty="0"/>
              <a:t>• </a:t>
            </a:r>
            <a:r>
              <a:rPr dirty="0" err="1"/>
              <a:t>难点</a:t>
            </a:r>
            <a:r>
              <a:rPr dirty="0"/>
              <a:t>: </a:t>
            </a:r>
            <a:r>
              <a:rPr dirty="0" err="1"/>
              <a:t>大框边缘限制，放置必须极度平稳精准，杜绝磕碰</a:t>
            </a:r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FE011B1-2440-1559-5CC4-5A6DAB240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2230452"/>
            <a:ext cx="8229600" cy="4251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9045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982B6-DDCB-493D-58CE-43AE7CCEF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6AD28-2988-BF37-83A1-55B5DD004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2000" b="1">
                <a:solidFill>
                  <a:srgbClr val="FF6600"/>
                </a:solidFill>
              </a:defRPr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场景 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：小框换框与码垛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4ED97C-B8D8-F569-8A73-CFE7BEFBD012}"/>
              </a:ext>
            </a:extLst>
          </p:cNvPr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DA0FF0-E1CD-9003-11C7-50E98E9474CC}"/>
              </a:ext>
            </a:extLst>
          </p:cNvPr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87878"/>
                </a:solidFill>
                <a:latin typeface="Microsoft YaHei"/>
              </a:defRPr>
            </a:pPr>
            <a:r>
              <a:t>RJ2506 双臂轮式复合机器人 | 核心技术攻坚与系统架构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3AC0FC6-0F55-EFC8-F258-3F6297A7E6C7}"/>
              </a:ext>
            </a:extLst>
          </p:cNvPr>
          <p:cNvSpPr/>
          <p:nvPr/>
        </p:nvSpPr>
        <p:spPr>
          <a:xfrm>
            <a:off x="1468810" y="1195867"/>
            <a:ext cx="6206379" cy="934648"/>
          </a:xfrm>
          <a:prstGeom prst="roundRect">
            <a:avLst/>
          </a:prstGeom>
          <a:solidFill>
            <a:srgbClr val="FFFFFF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目标</a:t>
            </a:r>
            <a:r>
              <a:rPr dirty="0"/>
              <a:t>: </a:t>
            </a:r>
            <a:r>
              <a:rPr dirty="0" err="1"/>
              <a:t>推动空框替换满框，并将满框双手搬运至中转站进行高精度码垛</a:t>
            </a:r>
            <a:br>
              <a:rPr dirty="0"/>
            </a:br>
            <a:r>
              <a:rPr dirty="0"/>
              <a:t>• </a:t>
            </a:r>
            <a:r>
              <a:rPr dirty="0" err="1"/>
              <a:t>难点</a:t>
            </a:r>
            <a:r>
              <a:rPr dirty="0"/>
              <a:t>: </a:t>
            </a:r>
            <a:r>
              <a:rPr dirty="0" err="1"/>
              <a:t>视线完全遮挡，码垛极易重心偏移倒塌，需抗盲插和倾斜修正</a:t>
            </a:r>
            <a:endParaRPr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568EC93-F0A3-1E6E-AD68-91CB0C057C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1" y="2185398"/>
            <a:ext cx="8229599" cy="4251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6201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Microsoft YaHei"/>
              </a:defRPr>
            </a:pPr>
            <a:r>
              <a:rPr dirty="0" err="1"/>
              <a:t>硬件载体与底层通信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87878"/>
                </a:solidFill>
                <a:latin typeface="Microsoft YaHei"/>
              </a:defRPr>
            </a:pPr>
            <a:r>
              <a:t>RJ2506 双臂轮式复合机器人 | 核心技术攻坚与系统架构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85063"/>
            <a:ext cx="7315200" cy="4116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900" dirty="0"/>
          </a:p>
          <a:p>
            <a:pPr>
              <a:lnSpc>
                <a:spcPct val="110000"/>
              </a:lnSpc>
              <a:spcBef>
                <a:spcPts val="500"/>
              </a:spcBef>
              <a:defRPr sz="2200" b="1">
                <a:solidFill>
                  <a:srgbClr val="003366"/>
                </a:solidFill>
                <a:latin typeface="Microsoft YaHei"/>
              </a:defRPr>
            </a:pPr>
            <a:r>
              <a:rPr sz="2000" dirty="0" err="1"/>
              <a:t>核心硬件平台</a:t>
            </a:r>
            <a:endParaRPr sz="2000" dirty="0"/>
          </a:p>
          <a:p>
            <a:pPr lvl="1">
              <a:lnSpc>
                <a:spcPct val="110000"/>
              </a:lnSpc>
              <a:spcBef>
                <a:spcPts val="500"/>
              </a:spcBef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rPr dirty="0"/>
              <a:t>RJ2506 </a:t>
            </a:r>
            <a:r>
              <a:rPr dirty="0" err="1"/>
              <a:t>差速底盘</a:t>
            </a:r>
            <a:r>
              <a:rPr dirty="0"/>
              <a:t> + </a:t>
            </a:r>
            <a:r>
              <a:rPr dirty="0" err="1"/>
              <a:t>躯干控制器</a:t>
            </a:r>
            <a:endParaRPr dirty="0"/>
          </a:p>
          <a:p>
            <a:pPr lvl="1">
              <a:lnSpc>
                <a:spcPct val="110000"/>
              </a:lnSpc>
              <a:spcBef>
                <a:spcPts val="500"/>
              </a:spcBef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双机械臂</a:t>
            </a:r>
            <a:r>
              <a:rPr dirty="0"/>
              <a:t> (</a:t>
            </a:r>
            <a:r>
              <a:rPr dirty="0" err="1"/>
              <a:t>单臂负载</a:t>
            </a:r>
            <a:r>
              <a:rPr dirty="0"/>
              <a:t> 15kg，协同 30kg)</a:t>
            </a:r>
          </a:p>
          <a:p>
            <a:pPr lvl="1">
              <a:lnSpc>
                <a:spcPct val="110000"/>
              </a:lnSpc>
              <a:spcBef>
                <a:spcPts val="500"/>
              </a:spcBef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左右平行夹爪</a:t>
            </a:r>
            <a:endParaRPr dirty="0"/>
          </a:p>
          <a:p>
            <a:pPr lvl="1">
              <a:lnSpc>
                <a:spcPct val="110000"/>
              </a:lnSpc>
              <a:spcBef>
                <a:spcPts val="500"/>
              </a:spcBef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头部全局相机</a:t>
            </a:r>
            <a:r>
              <a:rPr dirty="0"/>
              <a:t>(OAK-D) + </a:t>
            </a:r>
            <a:r>
              <a:rPr dirty="0" err="1"/>
              <a:t>手腕局部相机</a:t>
            </a:r>
            <a:endParaRPr dirty="0"/>
          </a:p>
          <a:p>
            <a:pPr>
              <a:lnSpc>
                <a:spcPct val="110000"/>
              </a:lnSpc>
              <a:spcBef>
                <a:spcPts val="500"/>
              </a:spcBef>
              <a:defRPr sz="2200" b="1">
                <a:solidFill>
                  <a:srgbClr val="003366"/>
                </a:solidFill>
                <a:latin typeface="Microsoft YaHei"/>
              </a:defRPr>
            </a:pPr>
            <a:r>
              <a:rPr sz="2000" dirty="0" err="1"/>
              <a:t>计算平台与系统</a:t>
            </a:r>
            <a:endParaRPr sz="2000" dirty="0"/>
          </a:p>
          <a:p>
            <a:pPr lvl="1">
              <a:lnSpc>
                <a:spcPct val="110000"/>
              </a:lnSpc>
              <a:spcBef>
                <a:spcPts val="500"/>
              </a:spcBef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rPr dirty="0"/>
              <a:t>NVIDIA Jetson Orin</a:t>
            </a:r>
          </a:p>
          <a:p>
            <a:pPr>
              <a:lnSpc>
                <a:spcPct val="110000"/>
              </a:lnSpc>
              <a:spcBef>
                <a:spcPts val="500"/>
              </a:spcBef>
              <a:defRPr sz="2200" b="1">
                <a:solidFill>
                  <a:srgbClr val="FF6600"/>
                </a:solidFill>
                <a:latin typeface="Microsoft YaHei"/>
              </a:defRPr>
            </a:pPr>
            <a:r>
              <a:rPr sz="2000" dirty="0" err="1"/>
              <a:t>底层通信总线</a:t>
            </a:r>
            <a:endParaRPr sz="2000" dirty="0"/>
          </a:p>
          <a:p>
            <a:pPr lvl="1">
              <a:lnSpc>
                <a:spcPct val="110000"/>
              </a:lnSpc>
              <a:spcBef>
                <a:spcPts val="500"/>
              </a:spcBef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CANopen</a:t>
            </a:r>
            <a:r>
              <a:rPr dirty="0"/>
              <a:t> (1000Hz) - </a:t>
            </a:r>
            <a:r>
              <a:rPr dirty="0" err="1"/>
              <a:t>控制</a:t>
            </a:r>
            <a:r>
              <a:rPr dirty="0"/>
              <a:t> 14 </a:t>
            </a:r>
            <a:r>
              <a:rPr dirty="0" err="1"/>
              <a:t>轴电机</a:t>
            </a:r>
            <a:endParaRPr dirty="0"/>
          </a:p>
          <a:p>
            <a:pPr lvl="1">
              <a:lnSpc>
                <a:spcPct val="110000"/>
              </a:lnSpc>
              <a:spcBef>
                <a:spcPts val="500"/>
              </a:spcBef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rPr dirty="0"/>
              <a:t>RS-485 (50Hz) - </a:t>
            </a:r>
            <a:r>
              <a:rPr dirty="0" err="1"/>
              <a:t>控制双侧夹爪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b="1">
                <a:solidFill>
                  <a:srgbClr val="003366"/>
                </a:solidFill>
                <a:latin typeface="Microsoft YaHei"/>
              </a:defRPr>
            </a:pPr>
            <a:r>
              <a:rPr sz="4000" dirty="0" err="1"/>
              <a:t>全局软件架构：八段式控制管线</a:t>
            </a:r>
            <a:endParaRPr sz="400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87878"/>
                </a:solidFill>
                <a:latin typeface="Microsoft YaHei"/>
              </a:defRPr>
            </a:pPr>
            <a:r>
              <a:t>RJ2506 双臂轮式复合机器人 | 核心技术攻坚与系统架构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8229600" cy="548640"/>
          </a:xfrm>
          <a:prstGeom prst="round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[0] 顶层大脑: 负责全程调度、流转与异常处理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4023360" cy="822960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[1] 任务触发与备料: 接收信号，执行初期的备料等准备</a:t>
            </a:r>
          </a:p>
        </p:txBody>
      </p:sp>
      <p:sp>
        <p:nvSpPr>
          <p:cNvPr id="7" name="Down Arrow 6"/>
          <p:cNvSpPr/>
          <p:nvPr/>
        </p:nvSpPr>
        <p:spPr>
          <a:xfrm>
            <a:off x="2377440" y="2926080"/>
            <a:ext cx="182880" cy="182880"/>
          </a:xfrm>
          <a:prstGeom prst="down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3108960"/>
            <a:ext cx="4023360" cy="822960"/>
          </a:xfrm>
          <a:prstGeom prst="rect">
            <a:avLst/>
          </a:prstGeom>
          <a:solidFill>
            <a:srgbClr val="DCEB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[2] 宏观导航: 负责设备移动</a:t>
            </a:r>
          </a:p>
        </p:txBody>
      </p:sp>
      <p:sp>
        <p:nvSpPr>
          <p:cNvPr id="9" name="Down Arrow 8"/>
          <p:cNvSpPr/>
          <p:nvPr/>
        </p:nvSpPr>
        <p:spPr>
          <a:xfrm>
            <a:off x="2377440" y="3931920"/>
            <a:ext cx="182880" cy="182880"/>
          </a:xfrm>
          <a:prstGeom prst="down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4114800"/>
            <a:ext cx="4023360" cy="822960"/>
          </a:xfrm>
          <a:prstGeom prst="rect">
            <a:avLst/>
          </a:prstGeom>
          <a:solidFill>
            <a:srgbClr val="FF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[3] 物理顺应补偿: 利用算法控制消除底盘误差等对位不准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377440" y="4937760"/>
            <a:ext cx="182880" cy="182880"/>
          </a:xfrm>
          <a:prstGeom prst="down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5120640"/>
            <a:ext cx="4023360" cy="822960"/>
          </a:xfrm>
          <a:prstGeom prst="rect">
            <a:avLst/>
          </a:prstGeom>
          <a:solidFill>
            <a:srgbClr val="FFEB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[4] 大尺度抓取: 系统感知目标位姿并完成抱持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103120"/>
            <a:ext cx="4023360" cy="822960"/>
          </a:xfrm>
          <a:prstGeom prst="rect">
            <a:avLst/>
          </a:prstGeom>
          <a:solidFill>
            <a:srgbClr val="DCFFDC"/>
          </a:solidFill>
          <a:ln w="25400">
            <a:solidFill>
              <a:srgbClr val="00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[5] 高空特征记忆: 在目标上方悬停，预先提取环境特征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6583680" y="2926080"/>
            <a:ext cx="182880" cy="182880"/>
          </a:xfrm>
          <a:prstGeom prst="down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663440" y="3108960"/>
            <a:ext cx="4023360" cy="822960"/>
          </a:xfrm>
          <a:prstGeom prst="rect">
            <a:avLst/>
          </a:prstGeom>
          <a:solidFill>
            <a:srgbClr val="DCFFDC"/>
          </a:solidFill>
          <a:ln w="25400">
            <a:solidFill>
              <a:srgbClr val="00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[6] 微插闭环: 在视线遮挡阶段接管，进行姿态等参数修正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583680" y="3931920"/>
            <a:ext cx="182880" cy="182880"/>
          </a:xfrm>
          <a:prstGeom prst="down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663440" y="4114800"/>
            <a:ext cx="4023360" cy="822960"/>
          </a:xfrm>
          <a:prstGeom prst="rect">
            <a:avLst/>
          </a:prstGeom>
          <a:solidFill>
            <a:srgbClr val="FF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[7] 触底检测与释放: 检测放置到位并释放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6583680" y="4937760"/>
            <a:ext cx="182880" cy="182880"/>
          </a:xfrm>
          <a:prstGeom prst="down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63440" y="5120640"/>
            <a:ext cx="4023360" cy="822960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[8] 复位与回程: 收回机械臂并返回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b="1">
                <a:solidFill>
                  <a:srgbClr val="003366"/>
                </a:solidFill>
                <a:latin typeface="Microsoft YaHei"/>
              </a:defRPr>
            </a:pPr>
            <a:r>
              <a:rPr sz="4000" dirty="0" err="1"/>
              <a:t>为什么采用这套管线设计</a:t>
            </a:r>
            <a:r>
              <a:rPr sz="4000" dirty="0"/>
              <a:t>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87878"/>
                </a:solidFill>
                <a:latin typeface="Microsoft YaHei"/>
              </a:defRPr>
            </a:pPr>
            <a:r>
              <a:t>RJ2506 双臂轮式复合机器人 | 核心技术攻坚与系统架构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840480" cy="4114800"/>
          </a:xfrm>
          <a:prstGeom prst="rect">
            <a:avLst/>
          </a:prstGeom>
          <a:solidFill>
            <a:srgbClr val="FFE6E6"/>
          </a:solidFill>
          <a:ln>
            <a:solidFill>
              <a:srgbClr val="C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C80000"/>
                </a:solidFill>
              </a:defRPr>
            </a:pPr>
            <a:r>
              <a:t>❌ 现有方案难点</a:t>
            </a:r>
          </a:p>
          <a:p>
            <a:pPr>
              <a:lnSpc>
                <a:spcPct val="110000"/>
              </a:lnSpc>
              <a:spcBef>
                <a:spcPts val="500"/>
              </a:spcBef>
              <a:defRPr sz="2200" b="0">
                <a:solidFill>
                  <a:srgbClr val="333333"/>
                </a:solidFill>
                <a:latin typeface="Microsoft YaHei"/>
              </a:defRPr>
            </a:pPr>
            <a:endParaRPr/>
          </a:p>
          <a:p>
            <a:pPr lvl="1">
              <a:lnSpc>
                <a:spcPct val="110000"/>
              </a:lnSpc>
              <a:spcBef>
                <a:spcPts val="500"/>
              </a:spcBef>
              <a:defRPr sz="1900" b="1">
                <a:solidFill>
                  <a:srgbClr val="333333"/>
                </a:solidFill>
                <a:latin typeface="Microsoft YaHei"/>
              </a:defRPr>
            </a:pPr>
            <a:r>
              <a:t>端到端模型控制边界</a:t>
            </a:r>
          </a:p>
          <a:p>
            <a:pPr lvl="2">
              <a:lnSpc>
                <a:spcPct val="110000"/>
              </a:lnSpc>
              <a:spcBef>
                <a:spcPts val="500"/>
              </a:spcBef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难以确保导航和物理接触的绝对安全</a:t>
            </a:r>
          </a:p>
          <a:p>
            <a:pPr lvl="1">
              <a:lnSpc>
                <a:spcPct val="110000"/>
              </a:lnSpc>
              <a:spcBef>
                <a:spcPts val="500"/>
              </a:spcBef>
              <a:defRPr sz="1900" b="1">
                <a:solidFill>
                  <a:srgbClr val="333333"/>
                </a:solidFill>
                <a:latin typeface="Microsoft YaHei"/>
              </a:defRPr>
            </a:pPr>
            <a:r>
              <a:t>底盘停靠天然误差</a:t>
            </a:r>
          </a:p>
          <a:p>
            <a:pPr lvl="2">
              <a:lnSpc>
                <a:spcPct val="110000"/>
              </a:lnSpc>
              <a:spcBef>
                <a:spcPts val="500"/>
              </a:spcBef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对精密装配/码垛造成挑战</a:t>
            </a:r>
          </a:p>
          <a:p>
            <a:pPr lvl="1">
              <a:lnSpc>
                <a:spcPct val="110000"/>
              </a:lnSpc>
              <a:spcBef>
                <a:spcPts val="500"/>
              </a:spcBef>
              <a:defRPr sz="1900" b="1">
                <a:solidFill>
                  <a:srgbClr val="333333"/>
                </a:solidFill>
                <a:latin typeface="Microsoft YaHei"/>
              </a:defRPr>
            </a:pPr>
            <a:r>
              <a:t>末端盲区</a:t>
            </a:r>
          </a:p>
          <a:p>
            <a:pPr lvl="2">
              <a:lnSpc>
                <a:spcPct val="110000"/>
              </a:lnSpc>
              <a:spcBef>
                <a:spcPts val="500"/>
              </a:spcBef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大型料框遮挡相机视线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389120" y="3474720"/>
            <a:ext cx="365760" cy="457200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846320" y="1645920"/>
            <a:ext cx="3840480" cy="4114800"/>
          </a:xfrm>
          <a:prstGeom prst="rect">
            <a:avLst/>
          </a:prstGeom>
          <a:solidFill>
            <a:srgbClr val="E6F5E6"/>
          </a:solidFill>
          <a:ln>
            <a:solidFill>
              <a:srgbClr val="00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009600"/>
                </a:solidFill>
              </a:defRPr>
            </a:pPr>
            <a:r>
              <a:t>✅ 我们的架构方案</a:t>
            </a:r>
          </a:p>
          <a:p>
            <a:pPr>
              <a:lnSpc>
                <a:spcPct val="110000"/>
              </a:lnSpc>
              <a:spcBef>
                <a:spcPts val="500"/>
              </a:spcBef>
              <a:defRPr sz="2200" b="0">
                <a:solidFill>
                  <a:srgbClr val="333333"/>
                </a:solidFill>
                <a:latin typeface="Microsoft YaHei"/>
              </a:defRPr>
            </a:pPr>
            <a:endParaRPr/>
          </a:p>
          <a:p>
            <a:pPr lvl="1">
              <a:lnSpc>
                <a:spcPct val="110000"/>
              </a:lnSpc>
              <a:spcBef>
                <a:spcPts val="500"/>
              </a:spcBef>
              <a:defRPr sz="1900" b="1">
                <a:solidFill>
                  <a:srgbClr val="333333"/>
                </a:solidFill>
                <a:latin typeface="Microsoft YaHei"/>
              </a:defRPr>
            </a:pPr>
            <a:r>
              <a:t>引入顶层大脑节点</a:t>
            </a:r>
          </a:p>
          <a:p>
            <a:pPr lvl="2">
              <a:lnSpc>
                <a:spcPct val="110000"/>
              </a:lnSpc>
              <a:spcBef>
                <a:spcPts val="500"/>
              </a:spcBef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统一调度流转与异常处理</a:t>
            </a:r>
          </a:p>
          <a:p>
            <a:pPr lvl="1">
              <a:lnSpc>
                <a:spcPct val="110000"/>
              </a:lnSpc>
              <a:spcBef>
                <a:spcPts val="500"/>
              </a:spcBef>
              <a:defRPr sz="1900" b="1">
                <a:solidFill>
                  <a:srgbClr val="333333"/>
                </a:solidFill>
                <a:latin typeface="Microsoft YaHei"/>
              </a:defRPr>
            </a:pPr>
            <a:r>
              <a:t>物理顺应补偿</a:t>
            </a:r>
          </a:p>
          <a:p>
            <a:pPr lvl="2">
              <a:lnSpc>
                <a:spcPct val="110000"/>
              </a:lnSpc>
              <a:spcBef>
                <a:spcPts val="500"/>
              </a:spcBef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利用力控算法抹平底盘误差</a:t>
            </a:r>
          </a:p>
          <a:p>
            <a:pPr lvl="1">
              <a:lnSpc>
                <a:spcPct val="110000"/>
              </a:lnSpc>
              <a:spcBef>
                <a:spcPts val="500"/>
              </a:spcBef>
              <a:defRPr sz="1900" b="1">
                <a:solidFill>
                  <a:srgbClr val="333333"/>
                </a:solidFill>
                <a:latin typeface="Microsoft YaHei"/>
              </a:defRPr>
            </a:pPr>
            <a:r>
              <a:t>高空特征记忆 + 盲插修正</a:t>
            </a:r>
          </a:p>
          <a:p>
            <a:pPr lvl="2">
              <a:lnSpc>
                <a:spcPct val="110000"/>
              </a:lnSpc>
              <a:spcBef>
                <a:spcPts val="500"/>
              </a:spcBef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依靠预存特征进行姿态闭环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b="1">
                <a:solidFill>
                  <a:srgbClr val="003366"/>
                </a:solidFill>
                <a:latin typeface="Microsoft YaHei"/>
              </a:defRPr>
            </a:pPr>
            <a:r>
              <a:rPr sz="4000" dirty="0" err="1"/>
              <a:t>场景一：大框码料流程分析</a:t>
            </a:r>
            <a:endParaRPr sz="400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87878"/>
                </a:solidFill>
                <a:latin typeface="Microsoft YaHei"/>
              </a:defRPr>
            </a:pPr>
            <a:r>
              <a:t>RJ2506 双臂轮式复合机器人 | 核心技术攻坚与系统架构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205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400" dirty="0"/>
          </a:p>
          <a:p>
            <a:pPr>
              <a:lnSpc>
                <a:spcPct val="110000"/>
              </a:lnSpc>
              <a:spcBef>
                <a:spcPts val="500"/>
              </a:spcBef>
              <a:defRPr sz="2200" b="1">
                <a:solidFill>
                  <a:srgbClr val="0066CC"/>
                </a:solidFill>
                <a:latin typeface="Microsoft YaHei"/>
              </a:defRPr>
            </a:pPr>
            <a:r>
              <a:rPr sz="1400" dirty="0" err="1"/>
              <a:t>动作</a:t>
            </a:r>
            <a:r>
              <a:rPr sz="1400" dirty="0"/>
              <a:t> 1-3: </a:t>
            </a:r>
            <a:r>
              <a:rPr sz="1400" dirty="0" err="1"/>
              <a:t>寻位与对齐</a:t>
            </a:r>
            <a:endParaRPr sz="1400" dirty="0"/>
          </a:p>
          <a:p>
            <a:pPr lvl="1">
              <a:lnSpc>
                <a:spcPct val="110000"/>
              </a:lnSpc>
              <a:spcBef>
                <a:spcPts val="500"/>
              </a:spcBef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rPr sz="1400" dirty="0"/>
              <a:t>[1] </a:t>
            </a:r>
            <a:r>
              <a:rPr sz="1400" dirty="0" err="1"/>
              <a:t>触发备料</a:t>
            </a:r>
            <a:r>
              <a:rPr sz="1400" dirty="0"/>
              <a:t>: </a:t>
            </a:r>
            <a:r>
              <a:rPr sz="1400" dirty="0" err="1"/>
              <a:t>从待机休眠模式唤醒，确认双臂处于安全行车姿态</a:t>
            </a:r>
            <a:endParaRPr sz="1400" dirty="0"/>
          </a:p>
          <a:p>
            <a:pPr lvl="1">
              <a:lnSpc>
                <a:spcPct val="110000"/>
              </a:lnSpc>
              <a:spcBef>
                <a:spcPts val="500"/>
              </a:spcBef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rPr sz="1400" dirty="0"/>
              <a:t>[2] </a:t>
            </a:r>
            <a:r>
              <a:rPr sz="1400" dirty="0" err="1"/>
              <a:t>宏观导航</a:t>
            </a:r>
            <a:r>
              <a:rPr sz="1400" dirty="0"/>
              <a:t>: </a:t>
            </a:r>
            <a:r>
              <a:rPr sz="1400" dirty="0" err="1"/>
              <a:t>底盘导航并宽容停靠在冲压下料平台前</a:t>
            </a:r>
            <a:endParaRPr sz="1400" dirty="0"/>
          </a:p>
          <a:p>
            <a:pPr lvl="1">
              <a:lnSpc>
                <a:spcPct val="110000"/>
              </a:lnSpc>
              <a:spcBef>
                <a:spcPts val="500"/>
              </a:spcBef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rPr sz="1400" dirty="0"/>
              <a:t>[3] </a:t>
            </a:r>
            <a:r>
              <a:rPr sz="1400" dirty="0" err="1"/>
              <a:t>物理顺应</a:t>
            </a:r>
            <a:r>
              <a:rPr sz="1400" dirty="0"/>
              <a:t>: </a:t>
            </a:r>
            <a:r>
              <a:rPr sz="1400" dirty="0" err="1"/>
              <a:t>双手伸出抵住下料平台边缘，利用阻抗控制将自身位姿卡死对齐</a:t>
            </a:r>
            <a:endParaRPr sz="1400" dirty="0"/>
          </a:p>
          <a:p>
            <a:pPr>
              <a:lnSpc>
                <a:spcPct val="110000"/>
              </a:lnSpc>
              <a:spcBef>
                <a:spcPts val="500"/>
              </a:spcBef>
              <a:defRPr sz="2200" b="0">
                <a:solidFill>
                  <a:srgbClr val="333333"/>
                </a:solidFill>
                <a:latin typeface="Microsoft YaHei"/>
              </a:defRPr>
            </a:pPr>
            <a:endParaRPr sz="1400" dirty="0"/>
          </a:p>
          <a:p>
            <a:pPr>
              <a:lnSpc>
                <a:spcPct val="110000"/>
              </a:lnSpc>
              <a:spcBef>
                <a:spcPts val="500"/>
              </a:spcBef>
              <a:defRPr sz="2200" b="1">
                <a:solidFill>
                  <a:srgbClr val="0066CC"/>
                </a:solidFill>
                <a:latin typeface="Microsoft YaHei"/>
              </a:defRPr>
            </a:pPr>
            <a:r>
              <a:rPr sz="1400" dirty="0" err="1"/>
              <a:t>动作</a:t>
            </a:r>
            <a:r>
              <a:rPr sz="1400" dirty="0"/>
              <a:t> 4-6: </a:t>
            </a:r>
            <a:r>
              <a:rPr sz="1400" dirty="0" err="1"/>
              <a:t>抓取与放置</a:t>
            </a:r>
            <a:endParaRPr sz="1400" dirty="0"/>
          </a:p>
          <a:p>
            <a:pPr lvl="1">
              <a:lnSpc>
                <a:spcPct val="110000"/>
              </a:lnSpc>
              <a:spcBef>
                <a:spcPts val="500"/>
              </a:spcBef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rPr sz="1400" dirty="0"/>
              <a:t>[4] </a:t>
            </a:r>
            <a:r>
              <a:rPr sz="1400" dirty="0" err="1"/>
              <a:t>大尺度抓取</a:t>
            </a:r>
            <a:r>
              <a:rPr sz="1400" dirty="0"/>
              <a:t>: </a:t>
            </a:r>
            <a:r>
              <a:rPr sz="1400" dirty="0" err="1"/>
              <a:t>视觉输出协作轨迹，双手准确抓取</a:t>
            </a:r>
            <a:r>
              <a:rPr sz="1400" dirty="0"/>
              <a:t> 5-6 </a:t>
            </a:r>
            <a:r>
              <a:rPr sz="1400" dirty="0" err="1"/>
              <a:t>片大料片</a:t>
            </a:r>
            <a:endParaRPr sz="1400" dirty="0"/>
          </a:p>
          <a:p>
            <a:pPr lvl="1">
              <a:lnSpc>
                <a:spcPct val="110000"/>
              </a:lnSpc>
              <a:spcBef>
                <a:spcPts val="500"/>
              </a:spcBef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rPr sz="1400" dirty="0"/>
              <a:t>[5] </a:t>
            </a:r>
            <a:r>
              <a:rPr sz="1400" dirty="0" err="1"/>
              <a:t>高空记忆</a:t>
            </a:r>
            <a:r>
              <a:rPr sz="1400" dirty="0"/>
              <a:t>: 转身移动到大框旁边，在大框上方15cm处悬停，记录边角特征</a:t>
            </a:r>
          </a:p>
          <a:p>
            <a:pPr lvl="1">
              <a:lnSpc>
                <a:spcPct val="110000"/>
              </a:lnSpc>
              <a:spcBef>
                <a:spcPts val="500"/>
              </a:spcBef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rPr sz="1400" dirty="0"/>
              <a:t>[6] </a:t>
            </a:r>
            <a:r>
              <a:rPr sz="1400" dirty="0" err="1"/>
              <a:t>微插闭环</a:t>
            </a:r>
            <a:r>
              <a:rPr sz="1400" dirty="0"/>
              <a:t>: </a:t>
            </a:r>
            <a:r>
              <a:rPr sz="1400" dirty="0" err="1"/>
              <a:t>带着宽大的料片往下放，视线全盲，切入虚拟算法实时修正姿态</a:t>
            </a:r>
            <a:endParaRPr sz="1400" dirty="0"/>
          </a:p>
          <a:p>
            <a:pPr>
              <a:lnSpc>
                <a:spcPct val="110000"/>
              </a:lnSpc>
              <a:spcBef>
                <a:spcPts val="500"/>
              </a:spcBef>
              <a:defRPr sz="2200" b="0">
                <a:solidFill>
                  <a:srgbClr val="333333"/>
                </a:solidFill>
                <a:latin typeface="Microsoft YaHei"/>
              </a:defRPr>
            </a:pPr>
            <a:endParaRPr sz="1400" dirty="0"/>
          </a:p>
          <a:p>
            <a:pPr>
              <a:lnSpc>
                <a:spcPct val="110000"/>
              </a:lnSpc>
              <a:spcBef>
                <a:spcPts val="500"/>
              </a:spcBef>
              <a:defRPr sz="2200" b="1">
                <a:solidFill>
                  <a:srgbClr val="0066CC"/>
                </a:solidFill>
                <a:latin typeface="Microsoft YaHei"/>
              </a:defRPr>
            </a:pPr>
            <a:r>
              <a:rPr sz="1400" dirty="0" err="1"/>
              <a:t>动作</a:t>
            </a:r>
            <a:r>
              <a:rPr sz="1400" dirty="0"/>
              <a:t> 7-8: </a:t>
            </a:r>
            <a:r>
              <a:rPr sz="1400" dirty="0" err="1"/>
              <a:t>完成与复位</a:t>
            </a:r>
            <a:endParaRPr sz="1400" dirty="0"/>
          </a:p>
          <a:p>
            <a:pPr lvl="1">
              <a:lnSpc>
                <a:spcPct val="110000"/>
              </a:lnSpc>
              <a:spcBef>
                <a:spcPts val="500"/>
              </a:spcBef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rPr sz="1400" dirty="0"/>
              <a:t>[7] </a:t>
            </a:r>
            <a:r>
              <a:rPr sz="1400" dirty="0" err="1"/>
              <a:t>触底释放</a:t>
            </a:r>
            <a:r>
              <a:rPr sz="1400" dirty="0"/>
              <a:t>: </a:t>
            </a:r>
            <a:r>
              <a:rPr sz="1400" dirty="0" err="1"/>
              <a:t>监听Z轴电流突变感知放到底部，双侧夹爪同步松手</a:t>
            </a:r>
            <a:endParaRPr sz="1400" dirty="0"/>
          </a:p>
          <a:p>
            <a:pPr lvl="1">
              <a:lnSpc>
                <a:spcPct val="110000"/>
              </a:lnSpc>
              <a:spcBef>
                <a:spcPts val="500"/>
              </a:spcBef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rPr sz="1400" dirty="0"/>
              <a:t>[8] </a:t>
            </a:r>
            <a:r>
              <a:rPr sz="1400" dirty="0" err="1"/>
              <a:t>复位回程</a:t>
            </a:r>
            <a:r>
              <a:rPr sz="1400" dirty="0"/>
              <a:t>: </a:t>
            </a:r>
            <a:r>
              <a:rPr sz="1400" dirty="0" err="1"/>
              <a:t>双臂退回安全姿态，完成一次循环，系统复位</a:t>
            </a:r>
            <a:endParaRPr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b="1">
                <a:solidFill>
                  <a:srgbClr val="003366"/>
                </a:solidFill>
                <a:latin typeface="Microsoft YaHei"/>
              </a:defRPr>
            </a:pPr>
            <a:r>
              <a:rPr sz="4000" dirty="0" err="1"/>
              <a:t>场景二：小框换框与码垛流程分析</a:t>
            </a:r>
            <a:endParaRPr sz="400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87878"/>
                </a:solidFill>
                <a:latin typeface="Microsoft YaHei"/>
              </a:defRPr>
            </a:pPr>
            <a:r>
              <a:t>RJ2506 双臂轮式复合机器人 | 核心技术攻坚与系统架构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205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400" dirty="0"/>
          </a:p>
          <a:p>
            <a:pPr>
              <a:lnSpc>
                <a:spcPct val="110000"/>
              </a:lnSpc>
              <a:spcBef>
                <a:spcPts val="500"/>
              </a:spcBef>
              <a:defRPr sz="2200" b="1">
                <a:solidFill>
                  <a:srgbClr val="0066CC"/>
                </a:solidFill>
                <a:latin typeface="Microsoft YaHei"/>
              </a:defRPr>
            </a:pPr>
            <a:r>
              <a:rPr sz="1400" dirty="0" err="1"/>
              <a:t>动作</a:t>
            </a:r>
            <a:r>
              <a:rPr sz="1400" dirty="0"/>
              <a:t> 1-3: </a:t>
            </a:r>
            <a:r>
              <a:rPr sz="1400" dirty="0" err="1"/>
              <a:t>物理替换</a:t>
            </a:r>
            <a:endParaRPr sz="1400" dirty="0"/>
          </a:p>
          <a:p>
            <a:pPr lvl="1">
              <a:lnSpc>
                <a:spcPct val="110000"/>
              </a:lnSpc>
              <a:spcBef>
                <a:spcPts val="500"/>
              </a:spcBef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rPr sz="1400" dirty="0"/>
              <a:t>[1] </a:t>
            </a:r>
            <a:r>
              <a:rPr sz="1400" dirty="0" err="1"/>
              <a:t>触发备料</a:t>
            </a:r>
            <a:r>
              <a:rPr sz="1400" dirty="0"/>
              <a:t>: </a:t>
            </a:r>
            <a:r>
              <a:rPr sz="1400" dirty="0" err="1"/>
              <a:t>唤醒后，指引底盘先前往空框区，抓取一个空框作为替换弹药</a:t>
            </a:r>
            <a:endParaRPr sz="1400" dirty="0"/>
          </a:p>
          <a:p>
            <a:pPr lvl="1">
              <a:lnSpc>
                <a:spcPct val="110000"/>
              </a:lnSpc>
              <a:spcBef>
                <a:spcPts val="500"/>
              </a:spcBef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rPr sz="1400" dirty="0"/>
              <a:t>[2] </a:t>
            </a:r>
            <a:r>
              <a:rPr sz="1400" dirty="0" err="1"/>
              <a:t>宏观导航</a:t>
            </a:r>
            <a:r>
              <a:rPr sz="1400" dirty="0"/>
              <a:t>: </a:t>
            </a:r>
            <a:r>
              <a:rPr sz="1400" dirty="0" err="1"/>
              <a:t>带着空框移动到冲压机台下料口停靠</a:t>
            </a:r>
            <a:endParaRPr sz="1400" dirty="0"/>
          </a:p>
          <a:p>
            <a:pPr lvl="1">
              <a:lnSpc>
                <a:spcPct val="110000"/>
              </a:lnSpc>
              <a:spcBef>
                <a:spcPts val="500"/>
              </a:spcBef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rPr sz="1400" dirty="0"/>
              <a:t>[3] </a:t>
            </a:r>
            <a:r>
              <a:rPr sz="1400" dirty="0" err="1"/>
              <a:t>物理顺应</a:t>
            </a:r>
            <a:r>
              <a:rPr sz="1400" dirty="0"/>
              <a:t>: </a:t>
            </a:r>
            <a:r>
              <a:rPr sz="1400" dirty="0" err="1"/>
              <a:t>用手里的空框顺着机台导轨往里推，顺势把满框顶出来</a:t>
            </a:r>
            <a:endParaRPr sz="1400" dirty="0"/>
          </a:p>
          <a:p>
            <a:pPr>
              <a:lnSpc>
                <a:spcPct val="110000"/>
              </a:lnSpc>
              <a:spcBef>
                <a:spcPts val="500"/>
              </a:spcBef>
              <a:defRPr sz="2200" b="0">
                <a:solidFill>
                  <a:srgbClr val="333333"/>
                </a:solidFill>
                <a:latin typeface="Microsoft YaHei"/>
              </a:defRPr>
            </a:pPr>
            <a:endParaRPr sz="1400" dirty="0"/>
          </a:p>
          <a:p>
            <a:pPr>
              <a:lnSpc>
                <a:spcPct val="110000"/>
              </a:lnSpc>
              <a:spcBef>
                <a:spcPts val="500"/>
              </a:spcBef>
              <a:defRPr sz="2200" b="1">
                <a:solidFill>
                  <a:srgbClr val="0066CC"/>
                </a:solidFill>
                <a:latin typeface="Microsoft YaHei"/>
              </a:defRPr>
            </a:pPr>
            <a:r>
              <a:rPr sz="1400" dirty="0" err="1"/>
              <a:t>动作</a:t>
            </a:r>
            <a:r>
              <a:rPr sz="1400" dirty="0"/>
              <a:t> 4-6: </a:t>
            </a:r>
            <a:r>
              <a:rPr sz="1400" dirty="0" err="1"/>
              <a:t>搬运与高精度码垛</a:t>
            </a:r>
            <a:endParaRPr sz="1400" dirty="0"/>
          </a:p>
          <a:p>
            <a:pPr lvl="1">
              <a:lnSpc>
                <a:spcPct val="110000"/>
              </a:lnSpc>
              <a:spcBef>
                <a:spcPts val="500"/>
              </a:spcBef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rPr sz="1400" dirty="0"/>
              <a:t>[4] </a:t>
            </a:r>
            <a:r>
              <a:rPr sz="1400" dirty="0" err="1"/>
              <a:t>大尺度抓取</a:t>
            </a:r>
            <a:r>
              <a:rPr sz="1400" dirty="0"/>
              <a:t>: </a:t>
            </a:r>
            <a:r>
              <a:rPr sz="1400" dirty="0" err="1"/>
              <a:t>模型感知顶出的满框位姿，双手从两侧牢牢抱起满框</a:t>
            </a:r>
            <a:endParaRPr sz="1400" dirty="0"/>
          </a:p>
          <a:p>
            <a:pPr lvl="1">
              <a:lnSpc>
                <a:spcPct val="110000"/>
              </a:lnSpc>
              <a:spcBef>
                <a:spcPts val="500"/>
              </a:spcBef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rPr sz="1400" dirty="0"/>
              <a:t>[5] </a:t>
            </a:r>
            <a:r>
              <a:rPr sz="1400" dirty="0" err="1"/>
              <a:t>高空记忆</a:t>
            </a:r>
            <a:r>
              <a:rPr sz="1400" dirty="0"/>
              <a:t>: </a:t>
            </a:r>
            <a:r>
              <a:rPr sz="1400" dirty="0" err="1"/>
              <a:t>搬运满框前往中转站，在当前堆叠层上方悬停提取下方榫卯特征</a:t>
            </a:r>
            <a:endParaRPr sz="1400" dirty="0"/>
          </a:p>
          <a:p>
            <a:pPr lvl="1">
              <a:lnSpc>
                <a:spcPct val="110000"/>
              </a:lnSpc>
              <a:spcBef>
                <a:spcPts val="500"/>
              </a:spcBef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rPr sz="1400" dirty="0"/>
              <a:t>[6] </a:t>
            </a:r>
            <a:r>
              <a:rPr sz="1400" dirty="0" err="1"/>
              <a:t>微插闭环</a:t>
            </a:r>
            <a:r>
              <a:rPr sz="1400" dirty="0"/>
              <a:t>: </a:t>
            </a:r>
            <a:r>
              <a:rPr sz="1400" dirty="0" err="1"/>
              <a:t>往下放置时满框挡住视线，依靠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惯导</a:t>
            </a:r>
            <a:r>
              <a:rPr sz="1400" dirty="0" err="1"/>
              <a:t>修正倾斜，防止码垛倒塌</a:t>
            </a:r>
            <a:endParaRPr sz="1400" dirty="0"/>
          </a:p>
          <a:p>
            <a:pPr>
              <a:lnSpc>
                <a:spcPct val="110000"/>
              </a:lnSpc>
              <a:spcBef>
                <a:spcPts val="500"/>
              </a:spcBef>
              <a:defRPr sz="2200" b="0">
                <a:solidFill>
                  <a:srgbClr val="333333"/>
                </a:solidFill>
                <a:latin typeface="Microsoft YaHei"/>
              </a:defRPr>
            </a:pPr>
            <a:endParaRPr sz="1400" dirty="0"/>
          </a:p>
          <a:p>
            <a:pPr>
              <a:lnSpc>
                <a:spcPct val="110000"/>
              </a:lnSpc>
              <a:spcBef>
                <a:spcPts val="500"/>
              </a:spcBef>
              <a:defRPr sz="2200" b="1">
                <a:solidFill>
                  <a:srgbClr val="0066CC"/>
                </a:solidFill>
                <a:latin typeface="Microsoft YaHei"/>
              </a:defRPr>
            </a:pPr>
            <a:r>
              <a:rPr sz="1400" dirty="0" err="1"/>
              <a:t>动作</a:t>
            </a:r>
            <a:r>
              <a:rPr sz="1400" dirty="0"/>
              <a:t> 7-8: </a:t>
            </a:r>
            <a:r>
              <a:rPr sz="1400" dirty="0" err="1"/>
              <a:t>完成与复位</a:t>
            </a:r>
            <a:endParaRPr sz="1400" dirty="0"/>
          </a:p>
          <a:p>
            <a:pPr lvl="1">
              <a:lnSpc>
                <a:spcPct val="110000"/>
              </a:lnSpc>
              <a:spcBef>
                <a:spcPts val="500"/>
              </a:spcBef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rPr sz="1400" dirty="0"/>
              <a:t>[7] </a:t>
            </a:r>
            <a:r>
              <a:rPr sz="1400" dirty="0" err="1"/>
              <a:t>触底释放</a:t>
            </a:r>
            <a:r>
              <a:rPr sz="1400" dirty="0"/>
              <a:t>: </a:t>
            </a:r>
            <a:r>
              <a:rPr sz="1400" dirty="0" err="1"/>
              <a:t>接触力矩达到峰值判定码放稳固，松开双臂</a:t>
            </a:r>
            <a:endParaRPr sz="1400" dirty="0"/>
          </a:p>
          <a:p>
            <a:pPr lvl="1">
              <a:lnSpc>
                <a:spcPct val="110000"/>
              </a:lnSpc>
              <a:spcBef>
                <a:spcPts val="500"/>
              </a:spcBef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rPr sz="1400" dirty="0"/>
              <a:t>[8] </a:t>
            </a:r>
            <a:r>
              <a:rPr sz="1400" dirty="0" err="1"/>
              <a:t>复位回程</a:t>
            </a:r>
            <a:r>
              <a:rPr sz="1400" dirty="0"/>
              <a:t>: </a:t>
            </a:r>
            <a:r>
              <a:rPr sz="1400" dirty="0" err="1"/>
              <a:t>退回行车姿态，准备下一次换框任务</a:t>
            </a:r>
            <a:endParaRPr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b="1">
                <a:solidFill>
                  <a:srgbClr val="003366"/>
                </a:solidFill>
                <a:latin typeface="Microsoft YaHei"/>
              </a:defRPr>
            </a:pPr>
            <a:r>
              <a:rPr sz="4000" dirty="0" err="1"/>
              <a:t>系统开发与任务拆解</a:t>
            </a:r>
            <a:r>
              <a:rPr sz="4000" dirty="0"/>
              <a:t>: Phase 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87878"/>
                </a:solidFill>
                <a:latin typeface="Microsoft YaHei"/>
              </a:defRPr>
            </a:pPr>
            <a:r>
              <a:t>RJ2506 双臂轮式复合机器人 | 核心技术攻坚与系统架构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lnSpc>
                <a:spcPct val="110000"/>
              </a:lnSpc>
              <a:spcBef>
                <a:spcPts val="500"/>
              </a:spcBef>
              <a:defRPr sz="2200" b="1">
                <a:solidFill>
                  <a:srgbClr val="0066CC"/>
                </a:solidFill>
                <a:latin typeface="Microsoft YaHei"/>
              </a:defRPr>
            </a:pPr>
            <a:r>
              <a:t>Phase 0: 基础设施与物理真值采集</a:t>
            </a:r>
          </a:p>
          <a:p>
            <a:pPr lvl="1">
              <a:lnSpc>
                <a:spcPct val="110000"/>
              </a:lnSpc>
              <a:spcBef>
                <a:spcPts val="500"/>
              </a:spcBef>
              <a:defRPr sz="1900" b="1">
                <a:solidFill>
                  <a:srgbClr val="FF6600"/>
                </a:solidFill>
                <a:latin typeface="Microsoft YaHei"/>
              </a:defRPr>
            </a:pPr>
            <a:r>
              <a:t>时间: 2周</a:t>
            </a:r>
          </a:p>
          <a:p>
            <a:pPr lvl="1">
              <a:lnSpc>
                <a:spcPct val="110000"/>
              </a:lnSpc>
              <a:spcBef>
                <a:spcPts val="500"/>
              </a:spcBef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t>任务: ROS 2环境安装、相机外参标定、探针制作与Ground Truth采集、特征图金标准采集</a:t>
            </a:r>
          </a:p>
          <a:p>
            <a:pPr lvl="1">
              <a:lnSpc>
                <a:spcPct val="110000"/>
              </a:lnSpc>
              <a:spcBef>
                <a:spcPts val="500"/>
              </a:spcBef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t>指标: 软时间插值抖动 &lt; 10ms, 重投影误差 RMSE &lt; 1.5像素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b="1">
                <a:solidFill>
                  <a:srgbClr val="003366"/>
                </a:solidFill>
                <a:latin typeface="Microsoft YaHei"/>
              </a:defRPr>
            </a:pPr>
            <a:r>
              <a:rPr sz="4000" dirty="0" err="1"/>
              <a:t>系统开发与任务拆解</a:t>
            </a:r>
            <a:r>
              <a:rPr sz="4000" dirty="0"/>
              <a:t>: Phase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87878"/>
                </a:solidFill>
                <a:latin typeface="Microsoft YaHei"/>
              </a:defRPr>
            </a:pPr>
            <a:r>
              <a:t>RJ2506 双臂轮式复合机器人 | 核心技术攻坚与系统架构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3568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lnSpc>
                <a:spcPct val="110000"/>
              </a:lnSpc>
              <a:spcBef>
                <a:spcPts val="500"/>
              </a:spcBef>
              <a:defRPr sz="2200" b="1">
                <a:solidFill>
                  <a:srgbClr val="0066CC"/>
                </a:solidFill>
                <a:latin typeface="Microsoft YaHei"/>
              </a:defRPr>
            </a:pPr>
            <a:r>
              <a:rPr dirty="0"/>
              <a:t>Phase 1: </a:t>
            </a:r>
            <a:r>
              <a:rPr dirty="0" err="1"/>
              <a:t>核心硬骨头算法模块攻坚</a:t>
            </a:r>
            <a:r>
              <a:rPr dirty="0"/>
              <a:t> (</a:t>
            </a:r>
            <a:r>
              <a:rPr dirty="0" err="1"/>
              <a:t>研发重点</a:t>
            </a:r>
            <a:r>
              <a:rPr dirty="0"/>
              <a:t>)</a:t>
            </a:r>
          </a:p>
          <a:p>
            <a:pPr lvl="1">
              <a:lnSpc>
                <a:spcPct val="110000"/>
              </a:lnSpc>
              <a:spcBef>
                <a:spcPts val="500"/>
              </a:spcBef>
              <a:defRPr sz="1900" b="1">
                <a:solidFill>
                  <a:srgbClr val="FF6600"/>
                </a:solidFill>
                <a:latin typeface="Microsoft YaHei"/>
              </a:defRPr>
            </a:pPr>
            <a:r>
              <a:rPr dirty="0" err="1"/>
              <a:t>时间</a:t>
            </a:r>
            <a:r>
              <a:rPr dirty="0"/>
              <a:t>: </a:t>
            </a:r>
            <a:r>
              <a:rPr lang="en-US" altLang="zh-CN" dirty="0"/>
              <a:t>5</a:t>
            </a:r>
            <a:r>
              <a:rPr dirty="0"/>
              <a:t>周</a:t>
            </a:r>
          </a:p>
          <a:p>
            <a:pPr lvl="1">
              <a:lnSpc>
                <a:spcPct val="110000"/>
              </a:lnSpc>
              <a:spcBef>
                <a:spcPts val="500"/>
              </a:spcBef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任务</a:t>
            </a:r>
            <a:r>
              <a:rPr dirty="0"/>
              <a:t>:</a:t>
            </a:r>
          </a:p>
          <a:p>
            <a:pPr lvl="2">
              <a:lnSpc>
                <a:spcPct val="110000"/>
              </a:lnSpc>
              <a:spcBef>
                <a:spcPts val="500"/>
              </a:spcBef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双臂全身协调控制</a:t>
            </a:r>
            <a:r>
              <a:rPr dirty="0"/>
              <a:t>(WBC)</a:t>
            </a:r>
          </a:p>
          <a:p>
            <a:pPr lvl="2">
              <a:lnSpc>
                <a:spcPct val="110000"/>
              </a:lnSpc>
              <a:spcBef>
                <a:spcPts val="500"/>
              </a:spcBef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顶层状态机</a:t>
            </a:r>
            <a:endParaRPr dirty="0"/>
          </a:p>
          <a:p>
            <a:pPr lvl="2">
              <a:lnSpc>
                <a:spcPct val="110000"/>
              </a:lnSpc>
              <a:spcBef>
                <a:spcPts val="500"/>
              </a:spcBef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双目特征提取</a:t>
            </a:r>
            <a:endParaRPr dirty="0"/>
          </a:p>
          <a:p>
            <a:pPr lvl="2">
              <a:lnSpc>
                <a:spcPct val="110000"/>
              </a:lnSpc>
              <a:spcBef>
                <a:spcPts val="500"/>
              </a:spcBef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虚拟IBVS视觉伺服</a:t>
            </a:r>
            <a:endParaRPr lang="en-US" dirty="0"/>
          </a:p>
          <a:p>
            <a:pPr lvl="2">
              <a:lnSpc>
                <a:spcPct val="110000"/>
              </a:lnSpc>
              <a:spcBef>
                <a:spcPts val="500"/>
              </a:spcBef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• ACT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物品抓取放置算法</a:t>
            </a:r>
          </a:p>
          <a:p>
            <a:pPr lvl="2">
              <a:lnSpc>
                <a:spcPct val="110000"/>
              </a:lnSpc>
              <a:spcBef>
                <a:spcPts val="500"/>
              </a:spcBef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rPr dirty="0"/>
              <a:t>• C++</a:t>
            </a:r>
            <a:r>
              <a:rPr dirty="0" err="1"/>
              <a:t>守护进程、阻抗控制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b="1">
                <a:solidFill>
                  <a:srgbClr val="003366"/>
                </a:solidFill>
                <a:latin typeface="Microsoft YaHei"/>
              </a:defRPr>
            </a:pPr>
            <a:r>
              <a:rPr sz="4000" dirty="0" err="1"/>
              <a:t>系统开发与任务拆解</a:t>
            </a:r>
            <a:r>
              <a:rPr sz="4000" dirty="0"/>
              <a:t>: Phase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87878"/>
                </a:solidFill>
                <a:latin typeface="Microsoft YaHei"/>
              </a:defRPr>
            </a:pPr>
            <a:r>
              <a:t>RJ2506 双臂轮式复合机器人 | 核心技术攻坚与系统架构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3987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lnSpc>
                <a:spcPct val="110000"/>
              </a:lnSpc>
              <a:spcBef>
                <a:spcPts val="500"/>
              </a:spcBef>
              <a:defRPr sz="2200" b="1">
                <a:solidFill>
                  <a:srgbClr val="0066CC"/>
                </a:solidFill>
                <a:latin typeface="Microsoft YaHei"/>
              </a:defRPr>
            </a:pPr>
            <a:r>
              <a:rPr dirty="0"/>
              <a:t>Phase 2: AI </a:t>
            </a:r>
            <a:r>
              <a:rPr dirty="0" err="1"/>
              <a:t>训练与全链路联调</a:t>
            </a:r>
            <a:endParaRPr dirty="0"/>
          </a:p>
          <a:p>
            <a:pPr lvl="1">
              <a:lnSpc>
                <a:spcPct val="110000"/>
              </a:lnSpc>
              <a:spcBef>
                <a:spcPts val="500"/>
              </a:spcBef>
              <a:defRPr sz="1900" b="1">
                <a:solidFill>
                  <a:srgbClr val="FF6600"/>
                </a:solidFill>
                <a:latin typeface="Microsoft YaHei"/>
              </a:defRPr>
            </a:pPr>
            <a:r>
              <a:rPr dirty="0" err="1"/>
              <a:t>时间</a:t>
            </a:r>
            <a:r>
              <a:rPr dirty="0"/>
              <a:t>: </a:t>
            </a:r>
            <a:r>
              <a:rPr lang="en-US" altLang="zh-CN" dirty="0"/>
              <a:t>3</a:t>
            </a:r>
            <a:r>
              <a:rPr dirty="0"/>
              <a:t>周</a:t>
            </a:r>
          </a:p>
          <a:p>
            <a:pPr lvl="1">
              <a:lnSpc>
                <a:spcPct val="110000"/>
              </a:lnSpc>
              <a:spcBef>
                <a:spcPts val="500"/>
              </a:spcBef>
              <a:defRPr sz="1900" b="1">
                <a:solidFill>
                  <a:srgbClr val="333333"/>
                </a:solidFill>
                <a:latin typeface="Microsoft YaHei"/>
              </a:defRPr>
            </a:pPr>
            <a:r>
              <a:rPr dirty="0" err="1"/>
              <a:t>核心任务列表</a:t>
            </a:r>
            <a:r>
              <a:rPr dirty="0"/>
              <a:t>:</a:t>
            </a:r>
          </a:p>
          <a:p>
            <a:pPr lvl="2">
              <a:lnSpc>
                <a:spcPct val="110000"/>
              </a:lnSpc>
              <a:spcBef>
                <a:spcPts val="500"/>
              </a:spcBef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rPr dirty="0"/>
              <a:t>[2.1] </a:t>
            </a:r>
            <a:r>
              <a:rPr dirty="0" err="1"/>
              <a:t>数据采集与</a:t>
            </a:r>
            <a:r>
              <a:rPr dirty="0"/>
              <a:t> Sim2Real</a:t>
            </a:r>
          </a:p>
          <a:p>
            <a:pPr lvl="3">
              <a:lnSpc>
                <a:spcPct val="110000"/>
              </a:lnSpc>
              <a:spcBef>
                <a:spcPts val="500"/>
              </a:spcBef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录制</a:t>
            </a:r>
            <a:r>
              <a:rPr dirty="0"/>
              <a:t> 50 </a:t>
            </a:r>
            <a:r>
              <a:rPr dirty="0" err="1"/>
              <a:t>条遥操作真机数据，导入</a:t>
            </a:r>
            <a:r>
              <a:rPr dirty="0"/>
              <a:t> </a:t>
            </a:r>
            <a:r>
              <a:rPr dirty="0" err="1"/>
              <a:t>IsaacLab</a:t>
            </a:r>
            <a:endParaRPr dirty="0"/>
          </a:p>
          <a:p>
            <a:pPr lvl="3">
              <a:lnSpc>
                <a:spcPct val="110000"/>
              </a:lnSpc>
              <a:spcBef>
                <a:spcPts val="500"/>
              </a:spcBef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生成</a:t>
            </a:r>
            <a:r>
              <a:rPr dirty="0"/>
              <a:t> 10000 </a:t>
            </a:r>
            <a:r>
              <a:rPr dirty="0" err="1"/>
              <a:t>条带各种光照变异的合成数据进行扩充</a:t>
            </a:r>
            <a:endParaRPr dirty="0"/>
          </a:p>
          <a:p>
            <a:pPr lvl="2">
              <a:lnSpc>
                <a:spcPct val="110000"/>
              </a:lnSpc>
              <a:spcBef>
                <a:spcPts val="500"/>
              </a:spcBef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rPr dirty="0"/>
              <a:t>[2.2] DP </a:t>
            </a:r>
            <a:r>
              <a:rPr dirty="0" err="1"/>
              <a:t>模型训练与</a:t>
            </a:r>
            <a:r>
              <a:rPr dirty="0"/>
              <a:t> </a:t>
            </a:r>
            <a:r>
              <a:rPr dirty="0" err="1"/>
              <a:t>TensorRT</a:t>
            </a:r>
            <a:r>
              <a:rPr dirty="0"/>
              <a:t> </a:t>
            </a:r>
            <a:r>
              <a:rPr dirty="0" err="1"/>
              <a:t>部署</a:t>
            </a:r>
            <a:endParaRPr dirty="0"/>
          </a:p>
          <a:p>
            <a:pPr lvl="3">
              <a:lnSpc>
                <a:spcPct val="110000"/>
              </a:lnSpc>
              <a:spcBef>
                <a:spcPts val="500"/>
              </a:spcBef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在</a:t>
            </a:r>
            <a:r>
              <a:rPr dirty="0"/>
              <a:t> H100 </a:t>
            </a:r>
            <a:r>
              <a:rPr dirty="0" err="1"/>
              <a:t>集群上完成</a:t>
            </a:r>
            <a:r>
              <a:rPr dirty="0"/>
              <a:t> Diffusion Policy </a:t>
            </a:r>
            <a:r>
              <a:rPr dirty="0" err="1"/>
              <a:t>训练</a:t>
            </a:r>
            <a:endParaRPr dirty="0"/>
          </a:p>
          <a:p>
            <a:pPr lvl="3">
              <a:lnSpc>
                <a:spcPct val="110000"/>
              </a:lnSpc>
              <a:spcBef>
                <a:spcPts val="500"/>
              </a:spcBef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rPr dirty="0"/>
              <a:t>• Orin </a:t>
            </a:r>
            <a:r>
              <a:rPr dirty="0" err="1"/>
              <a:t>边缘端</a:t>
            </a:r>
            <a:r>
              <a:rPr dirty="0"/>
              <a:t> </a:t>
            </a:r>
            <a:r>
              <a:rPr dirty="0" err="1"/>
              <a:t>TensorRT</a:t>
            </a:r>
            <a:r>
              <a:rPr dirty="0"/>
              <a:t> </a:t>
            </a:r>
            <a:r>
              <a:rPr dirty="0" err="1"/>
              <a:t>部署，保证推理延迟</a:t>
            </a:r>
            <a:r>
              <a:rPr dirty="0"/>
              <a:t> &lt; 30ms</a:t>
            </a:r>
          </a:p>
          <a:p>
            <a:pPr lvl="2">
              <a:lnSpc>
                <a:spcPct val="110000"/>
              </a:lnSpc>
              <a:spcBef>
                <a:spcPts val="500"/>
              </a:spcBef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rPr dirty="0"/>
              <a:t>[2.3] </a:t>
            </a:r>
            <a:r>
              <a:rPr dirty="0" err="1"/>
              <a:t>大脑节点</a:t>
            </a:r>
            <a:r>
              <a:rPr dirty="0"/>
              <a:t> (Brain Node) </a:t>
            </a:r>
            <a:r>
              <a:rPr dirty="0" err="1"/>
              <a:t>实车串联</a:t>
            </a:r>
            <a:endParaRPr dirty="0"/>
          </a:p>
          <a:p>
            <a:pPr lvl="3">
              <a:lnSpc>
                <a:spcPct val="110000"/>
              </a:lnSpc>
              <a:spcBef>
                <a:spcPts val="500"/>
              </a:spcBef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将</a:t>
            </a:r>
            <a:r>
              <a:rPr dirty="0"/>
              <a:t> Nav2 -&gt; ACT -&gt; Feature Memory -&gt; IBVS -&gt; Touch-down </a:t>
            </a:r>
            <a:r>
              <a:rPr dirty="0" err="1"/>
              <a:t>管线在真机完全打通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083259" y="2743200"/>
            <a:ext cx="2977482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rPr dirty="0"/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561</Words>
  <Application>Microsoft Macintosh PowerPoint</Application>
  <PresentationFormat>全屏显示(4:3)</PresentationFormat>
  <Paragraphs>119</Paragraphs>
  <Slides>13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SimHei</vt:lpstr>
      <vt:lpstr>Microsoft YaHei</vt:lpstr>
      <vt:lpstr>Arial</vt:lpstr>
      <vt:lpstr>Calibri</vt:lpstr>
      <vt:lpstr>Office Theme</vt:lpstr>
      <vt:lpstr>PowerPoint 演示文稿</vt:lpstr>
      <vt:lpstr>整体任务描述 (The Mission)</vt:lpstr>
      <vt:lpstr>场景 1：大框码料</vt:lpstr>
      <vt:lpstr>场景 2：小框换框与码垛</vt:lpstr>
      <vt:lpstr>硬件载体与底层通信</vt:lpstr>
      <vt:lpstr>全局软件架构：八段式控制管线</vt:lpstr>
      <vt:lpstr>为什么采用这套管线设计？</vt:lpstr>
      <vt:lpstr>场景一：大框码料流程分析</vt:lpstr>
      <vt:lpstr>场景二：小框换框与码垛流程分析</vt:lpstr>
      <vt:lpstr>系统开发与任务拆解: Phase 0</vt:lpstr>
      <vt:lpstr>系统开发与任务拆解: Phase 1</vt:lpstr>
      <vt:lpstr>系统开发与任务拆解: Phase 2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ATOM LEO</cp:lastModifiedBy>
  <cp:revision>2</cp:revision>
  <dcterms:created xsi:type="dcterms:W3CDTF">2013-01-27T09:14:16Z</dcterms:created>
  <dcterms:modified xsi:type="dcterms:W3CDTF">2026-03-24T01:22:30Z</dcterms:modified>
  <cp:category/>
</cp:coreProperties>
</file>