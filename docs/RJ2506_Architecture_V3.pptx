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9144000" cy="2743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RJ2506 全局架构与任务拆解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>
                <a:solidFill>
                  <a:srgbClr val="C8DCFF"/>
                </a:solidFill>
              </a:defRPr>
            </a:pPr>
            <a:r>
              <a:t>双臂轮式复合机器人系统方案 V3.0</a:t>
            </a:r>
            <a:br/>
            <a:r>
              <a:t>(新增顶层大脑节点与完整 8 段式管线)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333333"/>
                </a:solidFill>
                <a:latin typeface="Microsoft YaHei"/>
              </a:defRPr>
            </a:pPr>
            <a:r>
              <a:t>Project: Aloha / Date: 2026.03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  <a:latin typeface="Microsoft YaHei"/>
              </a:defRPr>
            </a:pPr>
            <a:r>
              <a:t>整体任务描述 (The Mission)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787878"/>
                </a:solidFill>
                <a:latin typeface="Microsoft YaHei"/>
              </a:defRPr>
            </a:pPr>
            <a:r>
              <a:t>RJ2506 双臂轮式复合机器人 | 核心技术攻坚与系统架构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333333"/>
                </a:solidFill>
              </a:defRPr>
            </a:pPr>
            <a:r>
              <a:t>RJ2506 是一款双臂轮式复合机器人，旨在解决工厂半结构化环境下的高精度柔性装配、堆垛与搬运问题。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560320"/>
            <a:ext cx="384048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000">
                <a:solidFill>
                  <a:srgbClr val="0066CC"/>
                </a:solidFill>
              </a:defRPr>
            </a:pPr>
            <a:r>
              <a:t>场景 1：大框码料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• 目标: 双手从下料平台同时抓取大料片，搬运并精准码放到大框中</a:t>
            </a:r>
            <a:br/>
            <a:r>
              <a:t>• 难点: 大框边缘限制，放置必须极度平稳精准，杜绝磕碰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2560320"/>
            <a:ext cx="384048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FF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000">
                <a:solidFill>
                  <a:srgbClr val="FF6600"/>
                </a:solidFill>
              </a:defRPr>
            </a:pPr>
            <a:r>
              <a:t>场景 2：小框换框与码垛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• 目标: 推动空框替换满框，并将满框双手搬运至中转站进行高精度码垛</a:t>
            </a:r>
            <a:br/>
            <a:r>
              <a:t>• 难点: 视线完全遮挡，码垛极易重心偏移倒塌，需抗盲插和倾斜修正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  <a:latin typeface="Microsoft YaHei"/>
              </a:defRPr>
            </a:pPr>
            <a:r>
              <a:t>硬件载体与底层通信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787878"/>
                </a:solidFill>
                <a:latin typeface="Microsoft YaHei"/>
              </a:defRPr>
            </a:pPr>
            <a:r>
              <a:t>RJ2506 双臂轮式复合机器人 | 核心技术攻坚与系统架构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7315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lnSpc>
                <a:spcPct val="110000"/>
              </a:lnSpc>
              <a:spcBef>
                <a:spcPts val="500"/>
              </a:spcBef>
              <a:defRPr sz="2200" b="1">
                <a:solidFill>
                  <a:srgbClr val="003366"/>
                </a:solidFill>
                <a:latin typeface="Microsoft YaHei"/>
              </a:defRPr>
            </a:pPr>
            <a:r>
              <a:t>核心硬件平台</a:t>
            </a:r>
          </a:p>
          <a:p>
            <a:pPr lvl="1">
              <a:lnSpc>
                <a:spcPct val="110000"/>
              </a:lnSpc>
              <a:spcBef>
                <a:spcPts val="500"/>
              </a:spcBef>
              <a:defRPr sz="1900" b="0">
                <a:solidFill>
                  <a:srgbClr val="333333"/>
                </a:solidFill>
                <a:latin typeface="Microsoft YaHei"/>
              </a:defRPr>
            </a:pPr>
            <a:r>
              <a:t>RJ2506 差速底盘 + 躯干控制器</a:t>
            </a:r>
          </a:p>
          <a:p>
            <a:pPr lvl="1">
              <a:lnSpc>
                <a:spcPct val="110000"/>
              </a:lnSpc>
              <a:spcBef>
                <a:spcPts val="500"/>
              </a:spcBef>
              <a:defRPr sz="1900" b="0">
                <a:solidFill>
                  <a:srgbClr val="333333"/>
                </a:solidFill>
                <a:latin typeface="Microsoft YaHei"/>
              </a:defRPr>
            </a:pPr>
            <a:r>
              <a:t>双机械臂 (单臂负载 15kg，协同 30kg)</a:t>
            </a:r>
          </a:p>
          <a:p>
            <a:pPr lvl="1">
              <a:lnSpc>
                <a:spcPct val="110000"/>
              </a:lnSpc>
              <a:spcBef>
                <a:spcPts val="500"/>
              </a:spcBef>
              <a:defRPr sz="1900" b="0">
                <a:solidFill>
                  <a:srgbClr val="333333"/>
                </a:solidFill>
                <a:latin typeface="Microsoft YaHei"/>
              </a:defRPr>
            </a:pPr>
            <a:r>
              <a:t>左右平行夹爪</a:t>
            </a:r>
          </a:p>
          <a:p>
            <a:pPr lvl="1">
              <a:lnSpc>
                <a:spcPct val="110000"/>
              </a:lnSpc>
              <a:spcBef>
                <a:spcPts val="500"/>
              </a:spcBef>
              <a:defRPr sz="1900" b="0">
                <a:solidFill>
                  <a:srgbClr val="333333"/>
                </a:solidFill>
                <a:latin typeface="Microsoft YaHei"/>
              </a:defRPr>
            </a:pPr>
            <a:r>
              <a:t>头部全局相机(OAK-D) + 手腕局部相机</a:t>
            </a:r>
          </a:p>
          <a:p>
            <a:pPr>
              <a:lnSpc>
                <a:spcPct val="110000"/>
              </a:lnSpc>
              <a:spcBef>
                <a:spcPts val="500"/>
              </a:spcBef>
              <a:defRPr sz="2200" b="1">
                <a:solidFill>
                  <a:srgbClr val="003366"/>
                </a:solidFill>
                <a:latin typeface="Microsoft YaHei"/>
              </a:defRPr>
            </a:pPr>
            <a:r>
              <a:t>计算平台与系统</a:t>
            </a:r>
          </a:p>
          <a:p>
            <a:pPr lvl="1">
              <a:lnSpc>
                <a:spcPct val="110000"/>
              </a:lnSpc>
              <a:spcBef>
                <a:spcPts val="500"/>
              </a:spcBef>
              <a:defRPr sz="1900" b="0">
                <a:solidFill>
                  <a:srgbClr val="333333"/>
                </a:solidFill>
                <a:latin typeface="Microsoft YaHei"/>
              </a:defRPr>
            </a:pPr>
            <a:r>
              <a:t>NVIDIA Jetson Orin</a:t>
            </a:r>
          </a:p>
          <a:p>
            <a:pPr lvl="1">
              <a:lnSpc>
                <a:spcPct val="110000"/>
              </a:lnSpc>
              <a:spcBef>
                <a:spcPts val="500"/>
              </a:spcBef>
              <a:defRPr sz="1900" b="0">
                <a:solidFill>
                  <a:srgbClr val="333333"/>
                </a:solidFill>
                <a:latin typeface="Microsoft YaHei"/>
              </a:defRPr>
            </a:pPr>
            <a:r>
              <a:t>Phase 0/1 阶段暂不刷入 PREEMPT_RT 实时内核 (避开现有任务冲突)</a:t>
            </a:r>
          </a:p>
          <a:p>
            <a:pPr>
              <a:lnSpc>
                <a:spcPct val="110000"/>
              </a:lnSpc>
              <a:spcBef>
                <a:spcPts val="500"/>
              </a:spcBef>
              <a:defRPr sz="2200" b="1">
                <a:solidFill>
                  <a:srgbClr val="FF6600"/>
                </a:solidFill>
                <a:latin typeface="Microsoft YaHei"/>
              </a:defRPr>
            </a:pPr>
            <a:r>
              <a:t>底层通信总线</a:t>
            </a:r>
          </a:p>
          <a:p>
            <a:pPr lvl="1">
              <a:lnSpc>
                <a:spcPct val="110000"/>
              </a:lnSpc>
              <a:spcBef>
                <a:spcPts val="500"/>
              </a:spcBef>
              <a:defRPr sz="1900" b="0">
                <a:solidFill>
                  <a:srgbClr val="333333"/>
                </a:solidFill>
                <a:latin typeface="Microsoft YaHei"/>
              </a:defRPr>
            </a:pPr>
            <a:r>
              <a:t>CANopen (1000Hz) - 控制 14 轴电机</a:t>
            </a:r>
          </a:p>
          <a:p>
            <a:pPr lvl="1">
              <a:lnSpc>
                <a:spcPct val="110000"/>
              </a:lnSpc>
              <a:spcBef>
                <a:spcPts val="500"/>
              </a:spcBef>
              <a:defRPr sz="1900" b="0">
                <a:solidFill>
                  <a:srgbClr val="333333"/>
                </a:solidFill>
                <a:latin typeface="Microsoft YaHei"/>
              </a:defRPr>
            </a:pPr>
            <a:r>
              <a:t>RS-485 (50Hz) - 控制双侧夹爪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  <a:latin typeface="Microsoft YaHei"/>
              </a:defRPr>
            </a:pPr>
            <a:r>
              <a:t>全局软件架构：八段式控制管线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787878"/>
                </a:solidFill>
                <a:latin typeface="Microsoft YaHei"/>
              </a:defRPr>
            </a:pPr>
            <a:r>
              <a:t>RJ2506 双臂轮式复合机器人 | 核心技术攻坚与系统架构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8229600" cy="548640"/>
          </a:xfrm>
          <a:prstGeom prst="roundRect">
            <a:avLst/>
          </a:prstGeom>
          <a:solidFill>
            <a:srgbClr val="00336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 sz="1600">
                <a:solidFill>
                  <a:srgbClr val="FFFFFF"/>
                </a:solidFill>
              </a:defRPr>
            </a:pPr>
            <a:r>
              <a:t>[0] 顶层大脑: 负责全程调度、流转与异常处理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03120"/>
            <a:ext cx="4023360" cy="822960"/>
          </a:xfrm>
          <a:prstGeom prst="rect">
            <a:avLst/>
          </a:prstGeom>
          <a:solidFill>
            <a:srgbClr val="F0F0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>
                <a:solidFill>
                  <a:srgbClr val="333333"/>
                </a:solidFill>
              </a:defRPr>
            </a:pPr>
            <a:r>
              <a:t>[1] 任务触发与备料: 接收信号，执行初期的备料等准备</a:t>
            </a:r>
          </a:p>
        </p:txBody>
      </p:sp>
      <p:sp>
        <p:nvSpPr>
          <p:cNvPr id="7" name="Down Arrow 6"/>
          <p:cNvSpPr/>
          <p:nvPr/>
        </p:nvSpPr>
        <p:spPr>
          <a:xfrm>
            <a:off x="2377440" y="2926080"/>
            <a:ext cx="182880" cy="182880"/>
          </a:xfrm>
          <a:prstGeom prst="downArrow">
            <a:avLst/>
          </a:prstGeom>
          <a:solid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3108960"/>
            <a:ext cx="4023360" cy="822960"/>
          </a:xfrm>
          <a:prstGeom prst="rect">
            <a:avLst/>
          </a:prstGeom>
          <a:solidFill>
            <a:srgbClr val="DCEB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>
                <a:solidFill>
                  <a:srgbClr val="333333"/>
                </a:solidFill>
              </a:defRPr>
            </a:pPr>
            <a:r>
              <a:t>[2] 宏观导航: 负责设备移动</a:t>
            </a:r>
          </a:p>
        </p:txBody>
      </p:sp>
      <p:sp>
        <p:nvSpPr>
          <p:cNvPr id="9" name="Down Arrow 8"/>
          <p:cNvSpPr/>
          <p:nvPr/>
        </p:nvSpPr>
        <p:spPr>
          <a:xfrm>
            <a:off x="2377440" y="3931920"/>
            <a:ext cx="182880" cy="182880"/>
          </a:xfrm>
          <a:prstGeom prst="downArrow">
            <a:avLst/>
          </a:prstGeom>
          <a:solid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4114800"/>
            <a:ext cx="4023360" cy="822960"/>
          </a:xfrm>
          <a:prstGeom prst="rect">
            <a:avLst/>
          </a:prstGeom>
          <a:solidFill>
            <a:srgbClr val="FFDCD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>
                <a:solidFill>
                  <a:srgbClr val="333333"/>
                </a:solidFill>
              </a:defRPr>
            </a:pPr>
            <a:r>
              <a:t>[3] 物理顺应补偿: 利用算法控制消除底盘误差等对位不准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2377440" y="4937760"/>
            <a:ext cx="182880" cy="182880"/>
          </a:xfrm>
          <a:prstGeom prst="downArrow">
            <a:avLst/>
          </a:prstGeom>
          <a:solid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5120640"/>
            <a:ext cx="4023360" cy="822960"/>
          </a:xfrm>
          <a:prstGeom prst="rect">
            <a:avLst/>
          </a:prstGeom>
          <a:solidFill>
            <a:srgbClr val="FFEBD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>
                <a:solidFill>
                  <a:srgbClr val="333333"/>
                </a:solidFill>
              </a:defRPr>
            </a:pPr>
            <a:r>
              <a:t>[4] 大尺度抓取: 系统感知目标位姿并完成抱持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2103120"/>
            <a:ext cx="4023360" cy="822960"/>
          </a:xfrm>
          <a:prstGeom prst="rect">
            <a:avLst/>
          </a:prstGeom>
          <a:solidFill>
            <a:srgbClr val="DCFFDC"/>
          </a:solidFill>
          <a:ln w="25400">
            <a:solidFill>
              <a:srgbClr val="009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>
                <a:solidFill>
                  <a:srgbClr val="333333"/>
                </a:solidFill>
              </a:defRPr>
            </a:pPr>
            <a:r>
              <a:t>[5] 高空特征记忆: 在目标上方悬停，预先提取环境特征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6583680" y="2926080"/>
            <a:ext cx="182880" cy="182880"/>
          </a:xfrm>
          <a:prstGeom prst="downArrow">
            <a:avLst/>
          </a:prstGeom>
          <a:solid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63440" y="3108960"/>
            <a:ext cx="4023360" cy="822960"/>
          </a:xfrm>
          <a:prstGeom prst="rect">
            <a:avLst/>
          </a:prstGeom>
          <a:solidFill>
            <a:srgbClr val="DCFFDC"/>
          </a:solidFill>
          <a:ln w="25400">
            <a:solidFill>
              <a:srgbClr val="009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>
                <a:solidFill>
                  <a:srgbClr val="333333"/>
                </a:solidFill>
              </a:defRPr>
            </a:pPr>
            <a:r>
              <a:t>[6] 微插闭环: 在视线遮挡阶段接管，进行姿态等参数修正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6583680" y="3931920"/>
            <a:ext cx="182880" cy="182880"/>
          </a:xfrm>
          <a:prstGeom prst="downArrow">
            <a:avLst/>
          </a:prstGeom>
          <a:solid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663440" y="4114800"/>
            <a:ext cx="4023360" cy="822960"/>
          </a:xfrm>
          <a:prstGeom prst="rect">
            <a:avLst/>
          </a:prstGeom>
          <a:solidFill>
            <a:srgbClr val="FFDCD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>
                <a:solidFill>
                  <a:srgbClr val="333333"/>
                </a:solidFill>
              </a:defRPr>
            </a:pPr>
            <a:r>
              <a:t>[7] 触底检测与释放: 检测放置到位并释放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6583680" y="4937760"/>
            <a:ext cx="182880" cy="182880"/>
          </a:xfrm>
          <a:prstGeom prst="downArrow">
            <a:avLst/>
          </a:prstGeom>
          <a:solid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63440" y="5120640"/>
            <a:ext cx="4023360" cy="822960"/>
          </a:xfrm>
          <a:prstGeom prst="rect">
            <a:avLst/>
          </a:prstGeom>
          <a:solidFill>
            <a:srgbClr val="F0F0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>
                <a:solidFill>
                  <a:srgbClr val="333333"/>
                </a:solidFill>
              </a:defRPr>
            </a:pPr>
            <a:r>
              <a:t>[8] 复位与回程: 收回机械臂并返回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  <a:latin typeface="Microsoft YaHei"/>
              </a:defRPr>
            </a:pPr>
            <a:r>
              <a:t>为什么采用这套管线设计？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787878"/>
                </a:solidFill>
                <a:latin typeface="Microsoft YaHei"/>
              </a:defRPr>
            </a:pPr>
            <a:r>
              <a:t>RJ2506 双臂轮式复合机器人 | 核心技术攻坚与系统架构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3840480" cy="4114800"/>
          </a:xfrm>
          <a:prstGeom prst="rect">
            <a:avLst/>
          </a:prstGeom>
          <a:solidFill>
            <a:srgbClr val="FFE6E6"/>
          </a:solidFill>
          <a:ln>
            <a:solidFill>
              <a:srgbClr val="C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600">
                <a:solidFill>
                  <a:srgbClr val="C80000"/>
                </a:solidFill>
              </a:defRPr>
            </a:pPr>
            <a:r>
              <a:t>❌ 现有方案难点</a:t>
            </a:r>
          </a:p>
          <a:p>
            <a:pPr>
              <a:lnSpc>
                <a:spcPct val="110000"/>
              </a:lnSpc>
              <a:spcBef>
                <a:spcPts val="500"/>
              </a:spcBef>
              <a:defRPr sz="2200" b="0">
                <a:solidFill>
                  <a:srgbClr val="333333"/>
                </a:solidFill>
                <a:latin typeface="Microsoft YaHei"/>
              </a:defRPr>
            </a:pPr>
          </a:p>
          <a:p>
            <a:pPr lvl="1">
              <a:lnSpc>
                <a:spcPct val="110000"/>
              </a:lnSpc>
              <a:spcBef>
                <a:spcPts val="500"/>
              </a:spcBef>
              <a:defRPr sz="1900" b="1">
                <a:solidFill>
                  <a:srgbClr val="333333"/>
                </a:solidFill>
                <a:latin typeface="Microsoft YaHei"/>
              </a:defRPr>
            </a:pPr>
            <a:r>
              <a:t>端到端模型控制边界</a:t>
            </a:r>
          </a:p>
          <a:p>
            <a:pPr lvl="2">
              <a:lnSpc>
                <a:spcPct val="110000"/>
              </a:lnSpc>
              <a:spcBef>
                <a:spcPts val="500"/>
              </a:spcBef>
              <a:defRPr sz="1600" b="0">
                <a:solidFill>
                  <a:srgbClr val="333333"/>
                </a:solidFill>
                <a:latin typeface="Microsoft YaHei"/>
              </a:defRPr>
            </a:pPr>
            <a:r>
              <a:t>难以确保导航和物理接触的绝对安全</a:t>
            </a:r>
          </a:p>
          <a:p>
            <a:pPr lvl="1">
              <a:lnSpc>
                <a:spcPct val="110000"/>
              </a:lnSpc>
              <a:spcBef>
                <a:spcPts val="500"/>
              </a:spcBef>
              <a:defRPr sz="1900" b="1">
                <a:solidFill>
                  <a:srgbClr val="333333"/>
                </a:solidFill>
                <a:latin typeface="Microsoft YaHei"/>
              </a:defRPr>
            </a:pPr>
            <a:r>
              <a:t>底盘停靠天然误差</a:t>
            </a:r>
          </a:p>
          <a:p>
            <a:pPr lvl="2">
              <a:lnSpc>
                <a:spcPct val="110000"/>
              </a:lnSpc>
              <a:spcBef>
                <a:spcPts val="500"/>
              </a:spcBef>
              <a:defRPr sz="1600" b="0">
                <a:solidFill>
                  <a:srgbClr val="333333"/>
                </a:solidFill>
                <a:latin typeface="Microsoft YaHei"/>
              </a:defRPr>
            </a:pPr>
            <a:r>
              <a:t>对精密装配/码垛造成挑战</a:t>
            </a:r>
          </a:p>
          <a:p>
            <a:pPr lvl="1">
              <a:lnSpc>
                <a:spcPct val="110000"/>
              </a:lnSpc>
              <a:spcBef>
                <a:spcPts val="500"/>
              </a:spcBef>
              <a:defRPr sz="1900" b="1">
                <a:solidFill>
                  <a:srgbClr val="333333"/>
                </a:solidFill>
                <a:latin typeface="Microsoft YaHei"/>
              </a:defRPr>
            </a:pPr>
            <a:r>
              <a:t>末端盲区</a:t>
            </a:r>
          </a:p>
          <a:p>
            <a:pPr lvl="2">
              <a:lnSpc>
                <a:spcPct val="110000"/>
              </a:lnSpc>
              <a:spcBef>
                <a:spcPts val="500"/>
              </a:spcBef>
              <a:defRPr sz="1600" b="0">
                <a:solidFill>
                  <a:srgbClr val="333333"/>
                </a:solidFill>
                <a:latin typeface="Microsoft YaHei"/>
              </a:defRPr>
            </a:pPr>
            <a:r>
              <a:t>大型料框遮挡相机视线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389120" y="3474720"/>
            <a:ext cx="365760" cy="457200"/>
          </a:xfrm>
          <a:prstGeom prst="rightArrow">
            <a:avLst/>
          </a:prstGeom>
          <a:solid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846320" y="1645920"/>
            <a:ext cx="3840480" cy="4114800"/>
          </a:xfrm>
          <a:prstGeom prst="rect">
            <a:avLst/>
          </a:prstGeom>
          <a:solidFill>
            <a:srgbClr val="E6F5E6"/>
          </a:solidFill>
          <a:ln>
            <a:solidFill>
              <a:srgbClr val="009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600">
                <a:solidFill>
                  <a:srgbClr val="009600"/>
                </a:solidFill>
              </a:defRPr>
            </a:pPr>
            <a:r>
              <a:t>✅ 我们的架构方案</a:t>
            </a:r>
          </a:p>
          <a:p>
            <a:pPr>
              <a:lnSpc>
                <a:spcPct val="110000"/>
              </a:lnSpc>
              <a:spcBef>
                <a:spcPts val="500"/>
              </a:spcBef>
              <a:defRPr sz="2200" b="0">
                <a:solidFill>
                  <a:srgbClr val="333333"/>
                </a:solidFill>
                <a:latin typeface="Microsoft YaHei"/>
              </a:defRPr>
            </a:pPr>
          </a:p>
          <a:p>
            <a:pPr lvl="1">
              <a:lnSpc>
                <a:spcPct val="110000"/>
              </a:lnSpc>
              <a:spcBef>
                <a:spcPts val="500"/>
              </a:spcBef>
              <a:defRPr sz="1900" b="1">
                <a:solidFill>
                  <a:srgbClr val="333333"/>
                </a:solidFill>
                <a:latin typeface="Microsoft YaHei"/>
              </a:defRPr>
            </a:pPr>
            <a:r>
              <a:t>引入顶层大脑节点</a:t>
            </a:r>
          </a:p>
          <a:p>
            <a:pPr lvl="2">
              <a:lnSpc>
                <a:spcPct val="110000"/>
              </a:lnSpc>
              <a:spcBef>
                <a:spcPts val="500"/>
              </a:spcBef>
              <a:defRPr sz="1600" b="0">
                <a:solidFill>
                  <a:srgbClr val="333333"/>
                </a:solidFill>
                <a:latin typeface="Microsoft YaHei"/>
              </a:defRPr>
            </a:pPr>
            <a:r>
              <a:t>统一调度流转与异常处理</a:t>
            </a:r>
          </a:p>
          <a:p>
            <a:pPr lvl="1">
              <a:lnSpc>
                <a:spcPct val="110000"/>
              </a:lnSpc>
              <a:spcBef>
                <a:spcPts val="500"/>
              </a:spcBef>
              <a:defRPr sz="1900" b="1">
                <a:solidFill>
                  <a:srgbClr val="333333"/>
                </a:solidFill>
                <a:latin typeface="Microsoft YaHei"/>
              </a:defRPr>
            </a:pPr>
            <a:r>
              <a:t>物理顺应补偿</a:t>
            </a:r>
          </a:p>
          <a:p>
            <a:pPr lvl="2">
              <a:lnSpc>
                <a:spcPct val="110000"/>
              </a:lnSpc>
              <a:spcBef>
                <a:spcPts val="500"/>
              </a:spcBef>
              <a:defRPr sz="1600" b="0">
                <a:solidFill>
                  <a:srgbClr val="333333"/>
                </a:solidFill>
                <a:latin typeface="Microsoft YaHei"/>
              </a:defRPr>
            </a:pPr>
            <a:r>
              <a:t>利用力控算法抹平底盘误差</a:t>
            </a:r>
          </a:p>
          <a:p>
            <a:pPr lvl="1">
              <a:lnSpc>
                <a:spcPct val="110000"/>
              </a:lnSpc>
              <a:spcBef>
                <a:spcPts val="500"/>
              </a:spcBef>
              <a:defRPr sz="1900" b="1">
                <a:solidFill>
                  <a:srgbClr val="333333"/>
                </a:solidFill>
                <a:latin typeface="Microsoft YaHei"/>
              </a:defRPr>
            </a:pPr>
            <a:r>
              <a:t>高空特征记忆 + 盲插修正</a:t>
            </a:r>
          </a:p>
          <a:p>
            <a:pPr lvl="2">
              <a:lnSpc>
                <a:spcPct val="110000"/>
              </a:lnSpc>
              <a:spcBef>
                <a:spcPts val="500"/>
              </a:spcBef>
              <a:defRPr sz="1600" b="0">
                <a:solidFill>
                  <a:srgbClr val="333333"/>
                </a:solidFill>
                <a:latin typeface="Microsoft YaHei"/>
              </a:defRPr>
            </a:pPr>
            <a:r>
              <a:t>依靠预存特征进行姿态闭环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  <a:latin typeface="Microsoft YaHei"/>
              </a:defRPr>
            </a:pPr>
            <a:r>
              <a:t>场景一：大框码料流程分析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787878"/>
                </a:solidFill>
                <a:latin typeface="Microsoft YaHei"/>
              </a:defRPr>
            </a:pPr>
            <a:r>
              <a:t>RJ2506 双臂轮式复合机器人 | 核心技术攻坚与系统架构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lnSpc>
                <a:spcPct val="110000"/>
              </a:lnSpc>
              <a:spcBef>
                <a:spcPts val="500"/>
              </a:spcBef>
              <a:defRPr sz="2200" b="1">
                <a:solidFill>
                  <a:srgbClr val="0066CC"/>
                </a:solidFill>
                <a:latin typeface="Microsoft YaHei"/>
              </a:defRPr>
            </a:pPr>
            <a:r>
              <a:t>动作 1-3: 寻位与对齐</a:t>
            </a:r>
          </a:p>
          <a:p>
            <a:pPr lvl="1">
              <a:lnSpc>
                <a:spcPct val="110000"/>
              </a:lnSpc>
              <a:spcBef>
                <a:spcPts val="500"/>
              </a:spcBef>
              <a:defRPr sz="1900" b="0">
                <a:solidFill>
                  <a:srgbClr val="333333"/>
                </a:solidFill>
                <a:latin typeface="Microsoft YaHei"/>
              </a:defRPr>
            </a:pPr>
            <a:r>
              <a:t>[1] 触发备料: 从待机休眠模式唤醒，确认双臂处于安全行车姿态</a:t>
            </a:r>
          </a:p>
          <a:p>
            <a:pPr lvl="1">
              <a:lnSpc>
                <a:spcPct val="110000"/>
              </a:lnSpc>
              <a:spcBef>
                <a:spcPts val="500"/>
              </a:spcBef>
              <a:defRPr sz="1900" b="0">
                <a:solidFill>
                  <a:srgbClr val="333333"/>
                </a:solidFill>
                <a:latin typeface="Microsoft YaHei"/>
              </a:defRPr>
            </a:pPr>
            <a:r>
              <a:t>[2] 宏观导航: 底盘导航并宽容停靠在冲压下料平台前</a:t>
            </a:r>
          </a:p>
          <a:p>
            <a:pPr lvl="1">
              <a:lnSpc>
                <a:spcPct val="110000"/>
              </a:lnSpc>
              <a:spcBef>
                <a:spcPts val="500"/>
              </a:spcBef>
              <a:defRPr sz="1900" b="0">
                <a:solidFill>
                  <a:srgbClr val="333333"/>
                </a:solidFill>
                <a:latin typeface="Microsoft YaHei"/>
              </a:defRPr>
            </a:pPr>
            <a:r>
              <a:t>[3] 物理顺应: 双手伸出抵住下料平台边缘，利用阻抗控制将自身位姿卡死对齐</a:t>
            </a:r>
          </a:p>
          <a:p>
            <a:pPr>
              <a:lnSpc>
                <a:spcPct val="110000"/>
              </a:lnSpc>
              <a:spcBef>
                <a:spcPts val="500"/>
              </a:spcBef>
              <a:defRPr sz="2200" b="0">
                <a:solidFill>
                  <a:srgbClr val="333333"/>
                </a:solidFill>
                <a:latin typeface="Microsoft YaHei"/>
              </a:defRPr>
            </a:pPr>
          </a:p>
          <a:p>
            <a:pPr>
              <a:lnSpc>
                <a:spcPct val="110000"/>
              </a:lnSpc>
              <a:spcBef>
                <a:spcPts val="500"/>
              </a:spcBef>
              <a:defRPr sz="2200" b="1">
                <a:solidFill>
                  <a:srgbClr val="0066CC"/>
                </a:solidFill>
                <a:latin typeface="Microsoft YaHei"/>
              </a:defRPr>
            </a:pPr>
            <a:r>
              <a:t>动作 4-6: 抓取与放置</a:t>
            </a:r>
          </a:p>
          <a:p>
            <a:pPr lvl="1">
              <a:lnSpc>
                <a:spcPct val="110000"/>
              </a:lnSpc>
              <a:spcBef>
                <a:spcPts val="500"/>
              </a:spcBef>
              <a:defRPr sz="1900" b="0">
                <a:solidFill>
                  <a:srgbClr val="333333"/>
                </a:solidFill>
                <a:latin typeface="Microsoft YaHei"/>
              </a:defRPr>
            </a:pPr>
            <a:r>
              <a:t>[4] 大尺度抓取: 视觉输出协作轨迹，双手准确抓取 5-6 片大料片</a:t>
            </a:r>
          </a:p>
          <a:p>
            <a:pPr lvl="1">
              <a:lnSpc>
                <a:spcPct val="110000"/>
              </a:lnSpc>
              <a:spcBef>
                <a:spcPts val="500"/>
              </a:spcBef>
              <a:defRPr sz="1900" b="0">
                <a:solidFill>
                  <a:srgbClr val="333333"/>
                </a:solidFill>
                <a:latin typeface="Microsoft YaHei"/>
              </a:defRPr>
            </a:pPr>
            <a:r>
              <a:t>[5] 高空记忆: 转身移动到大框旁边，在大框上方15cm处悬停，记录边角特征</a:t>
            </a:r>
          </a:p>
          <a:p>
            <a:pPr lvl="1">
              <a:lnSpc>
                <a:spcPct val="110000"/>
              </a:lnSpc>
              <a:spcBef>
                <a:spcPts val="500"/>
              </a:spcBef>
              <a:defRPr sz="1900" b="0">
                <a:solidFill>
                  <a:srgbClr val="333333"/>
                </a:solidFill>
                <a:latin typeface="Microsoft YaHei"/>
              </a:defRPr>
            </a:pPr>
            <a:r>
              <a:t>[6] 微插闭环: 带着宽大的料片往下放，视线全盲，切入虚拟算法实时修正姿态</a:t>
            </a:r>
          </a:p>
          <a:p>
            <a:pPr>
              <a:lnSpc>
                <a:spcPct val="110000"/>
              </a:lnSpc>
              <a:spcBef>
                <a:spcPts val="500"/>
              </a:spcBef>
              <a:defRPr sz="2200" b="0">
                <a:solidFill>
                  <a:srgbClr val="333333"/>
                </a:solidFill>
                <a:latin typeface="Microsoft YaHei"/>
              </a:defRPr>
            </a:pPr>
          </a:p>
          <a:p>
            <a:pPr>
              <a:lnSpc>
                <a:spcPct val="110000"/>
              </a:lnSpc>
              <a:spcBef>
                <a:spcPts val="500"/>
              </a:spcBef>
              <a:defRPr sz="2200" b="1">
                <a:solidFill>
                  <a:srgbClr val="0066CC"/>
                </a:solidFill>
                <a:latin typeface="Microsoft YaHei"/>
              </a:defRPr>
            </a:pPr>
            <a:r>
              <a:t>动作 7-8: 完成与复位</a:t>
            </a:r>
          </a:p>
          <a:p>
            <a:pPr lvl="1">
              <a:lnSpc>
                <a:spcPct val="110000"/>
              </a:lnSpc>
              <a:spcBef>
                <a:spcPts val="500"/>
              </a:spcBef>
              <a:defRPr sz="1900" b="0">
                <a:solidFill>
                  <a:srgbClr val="333333"/>
                </a:solidFill>
                <a:latin typeface="Microsoft YaHei"/>
              </a:defRPr>
            </a:pPr>
            <a:r>
              <a:t>[7] 触底释放: 监听Z轴电流突变感知放到底部，双侧夹爪同步松手</a:t>
            </a:r>
          </a:p>
          <a:p>
            <a:pPr lvl="1">
              <a:lnSpc>
                <a:spcPct val="110000"/>
              </a:lnSpc>
              <a:spcBef>
                <a:spcPts val="500"/>
              </a:spcBef>
              <a:defRPr sz="1900" b="0">
                <a:solidFill>
                  <a:srgbClr val="333333"/>
                </a:solidFill>
                <a:latin typeface="Microsoft YaHei"/>
              </a:defRPr>
            </a:pPr>
            <a:r>
              <a:t>[8] 复位回程: 双臂退回安全姿态，完成一次循环，系统复位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  <a:latin typeface="Microsoft YaHei"/>
              </a:defRPr>
            </a:pPr>
            <a:r>
              <a:t>场景二：小框换框与码垛流程分析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787878"/>
                </a:solidFill>
                <a:latin typeface="Microsoft YaHei"/>
              </a:defRPr>
            </a:pPr>
            <a:r>
              <a:t>RJ2506 双臂轮式复合机器人 | 核心技术攻坚与系统架构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lnSpc>
                <a:spcPct val="110000"/>
              </a:lnSpc>
              <a:spcBef>
                <a:spcPts val="500"/>
              </a:spcBef>
              <a:defRPr sz="2200" b="1">
                <a:solidFill>
                  <a:srgbClr val="0066CC"/>
                </a:solidFill>
                <a:latin typeface="Microsoft YaHei"/>
              </a:defRPr>
            </a:pPr>
            <a:r>
              <a:t>动作 1-3: 物理替换</a:t>
            </a:r>
          </a:p>
          <a:p>
            <a:pPr lvl="1">
              <a:lnSpc>
                <a:spcPct val="110000"/>
              </a:lnSpc>
              <a:spcBef>
                <a:spcPts val="500"/>
              </a:spcBef>
              <a:defRPr sz="1900" b="0">
                <a:solidFill>
                  <a:srgbClr val="333333"/>
                </a:solidFill>
                <a:latin typeface="Microsoft YaHei"/>
              </a:defRPr>
            </a:pPr>
            <a:r>
              <a:t>[1] 触发备料: 唤醒后，指引底盘先前往空框区，抓取一个空框作为替换弹药</a:t>
            </a:r>
          </a:p>
          <a:p>
            <a:pPr lvl="1">
              <a:lnSpc>
                <a:spcPct val="110000"/>
              </a:lnSpc>
              <a:spcBef>
                <a:spcPts val="500"/>
              </a:spcBef>
              <a:defRPr sz="1900" b="0">
                <a:solidFill>
                  <a:srgbClr val="333333"/>
                </a:solidFill>
                <a:latin typeface="Microsoft YaHei"/>
              </a:defRPr>
            </a:pPr>
            <a:r>
              <a:t>[2] 宏观导航: 带着空框移动到冲压机台下料口停靠</a:t>
            </a:r>
          </a:p>
          <a:p>
            <a:pPr lvl="1">
              <a:lnSpc>
                <a:spcPct val="110000"/>
              </a:lnSpc>
              <a:spcBef>
                <a:spcPts val="500"/>
              </a:spcBef>
              <a:defRPr sz="1900" b="0">
                <a:solidFill>
                  <a:srgbClr val="333333"/>
                </a:solidFill>
                <a:latin typeface="Microsoft YaHei"/>
              </a:defRPr>
            </a:pPr>
            <a:r>
              <a:t>[3] 物理顺应: 用手里的空框顺着机台导轨往里推，顺势把满框顶出来</a:t>
            </a:r>
          </a:p>
          <a:p>
            <a:pPr>
              <a:lnSpc>
                <a:spcPct val="110000"/>
              </a:lnSpc>
              <a:spcBef>
                <a:spcPts val="500"/>
              </a:spcBef>
              <a:defRPr sz="2200" b="0">
                <a:solidFill>
                  <a:srgbClr val="333333"/>
                </a:solidFill>
                <a:latin typeface="Microsoft YaHei"/>
              </a:defRPr>
            </a:pPr>
          </a:p>
          <a:p>
            <a:pPr>
              <a:lnSpc>
                <a:spcPct val="110000"/>
              </a:lnSpc>
              <a:spcBef>
                <a:spcPts val="500"/>
              </a:spcBef>
              <a:defRPr sz="2200" b="1">
                <a:solidFill>
                  <a:srgbClr val="0066CC"/>
                </a:solidFill>
                <a:latin typeface="Microsoft YaHei"/>
              </a:defRPr>
            </a:pPr>
            <a:r>
              <a:t>动作 4-6: 搬运与高精度码垛</a:t>
            </a:r>
          </a:p>
          <a:p>
            <a:pPr lvl="1">
              <a:lnSpc>
                <a:spcPct val="110000"/>
              </a:lnSpc>
              <a:spcBef>
                <a:spcPts val="500"/>
              </a:spcBef>
              <a:defRPr sz="1900" b="0">
                <a:solidFill>
                  <a:srgbClr val="333333"/>
                </a:solidFill>
                <a:latin typeface="Microsoft YaHei"/>
              </a:defRPr>
            </a:pPr>
            <a:r>
              <a:t>[4] 大尺度抓取: 模型感知顶出的满框位姿，双手从两侧牢牢抱起满框</a:t>
            </a:r>
          </a:p>
          <a:p>
            <a:pPr lvl="1">
              <a:lnSpc>
                <a:spcPct val="110000"/>
              </a:lnSpc>
              <a:spcBef>
                <a:spcPts val="500"/>
              </a:spcBef>
              <a:defRPr sz="1900" b="0">
                <a:solidFill>
                  <a:srgbClr val="333333"/>
                </a:solidFill>
                <a:latin typeface="Microsoft YaHei"/>
              </a:defRPr>
            </a:pPr>
            <a:r>
              <a:t>[5] 高空记忆: 搬运满框前往中转站，在当前堆叠层上方悬停提取下方榫卯特征</a:t>
            </a:r>
          </a:p>
          <a:p>
            <a:pPr lvl="1">
              <a:lnSpc>
                <a:spcPct val="110000"/>
              </a:lnSpc>
              <a:spcBef>
                <a:spcPts val="500"/>
              </a:spcBef>
              <a:defRPr sz="1900" b="0">
                <a:solidFill>
                  <a:srgbClr val="333333"/>
                </a:solidFill>
                <a:latin typeface="Microsoft YaHei"/>
              </a:defRPr>
            </a:pPr>
            <a:r>
              <a:t>[6] 微插闭环: 往下放置时满框挡住视线，依靠矩阵修正倾斜，防止 5层码垛倒塌</a:t>
            </a:r>
          </a:p>
          <a:p>
            <a:pPr>
              <a:lnSpc>
                <a:spcPct val="110000"/>
              </a:lnSpc>
              <a:spcBef>
                <a:spcPts val="500"/>
              </a:spcBef>
              <a:defRPr sz="2200" b="0">
                <a:solidFill>
                  <a:srgbClr val="333333"/>
                </a:solidFill>
                <a:latin typeface="Microsoft YaHei"/>
              </a:defRPr>
            </a:pPr>
          </a:p>
          <a:p>
            <a:pPr>
              <a:lnSpc>
                <a:spcPct val="110000"/>
              </a:lnSpc>
              <a:spcBef>
                <a:spcPts val="500"/>
              </a:spcBef>
              <a:defRPr sz="2200" b="1">
                <a:solidFill>
                  <a:srgbClr val="0066CC"/>
                </a:solidFill>
                <a:latin typeface="Microsoft YaHei"/>
              </a:defRPr>
            </a:pPr>
            <a:r>
              <a:t>动作 7-8: 完成与复位</a:t>
            </a:r>
          </a:p>
          <a:p>
            <a:pPr lvl="1">
              <a:lnSpc>
                <a:spcPct val="110000"/>
              </a:lnSpc>
              <a:spcBef>
                <a:spcPts val="500"/>
              </a:spcBef>
              <a:defRPr sz="1900" b="0">
                <a:solidFill>
                  <a:srgbClr val="333333"/>
                </a:solidFill>
                <a:latin typeface="Microsoft YaHei"/>
              </a:defRPr>
            </a:pPr>
            <a:r>
              <a:t>[7] 触底释放: 接触力矩达到峰值判定码放稳固，松开双臂</a:t>
            </a:r>
          </a:p>
          <a:p>
            <a:pPr lvl="1">
              <a:lnSpc>
                <a:spcPct val="110000"/>
              </a:lnSpc>
              <a:spcBef>
                <a:spcPts val="500"/>
              </a:spcBef>
              <a:defRPr sz="1900" b="0">
                <a:solidFill>
                  <a:srgbClr val="333333"/>
                </a:solidFill>
                <a:latin typeface="Microsoft YaHei"/>
              </a:defRPr>
            </a:pPr>
            <a:r>
              <a:t>[8] 复位回程: 退回行车姿态，准备下一次换框任务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  <a:latin typeface="Microsoft YaHei"/>
              </a:defRPr>
            </a:pPr>
            <a:r>
              <a:t>系统开发与任务拆解: Phase 0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787878"/>
                </a:solidFill>
                <a:latin typeface="Microsoft YaHei"/>
              </a:defRPr>
            </a:pPr>
            <a:r>
              <a:t>RJ2506 双臂轮式复合机器人 | 核心技术攻坚与系统架构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lnSpc>
                <a:spcPct val="110000"/>
              </a:lnSpc>
              <a:spcBef>
                <a:spcPts val="500"/>
              </a:spcBef>
              <a:defRPr sz="2200" b="1">
                <a:solidFill>
                  <a:srgbClr val="0066CC"/>
                </a:solidFill>
                <a:latin typeface="Microsoft YaHei"/>
              </a:defRPr>
            </a:pPr>
            <a:r>
              <a:t>Phase 0: 基础设施与物理真值采集</a:t>
            </a:r>
          </a:p>
          <a:p>
            <a:pPr lvl="1">
              <a:lnSpc>
                <a:spcPct val="110000"/>
              </a:lnSpc>
              <a:spcBef>
                <a:spcPts val="500"/>
              </a:spcBef>
              <a:defRPr sz="1900" b="1">
                <a:solidFill>
                  <a:srgbClr val="FF6600"/>
                </a:solidFill>
                <a:latin typeface="Microsoft YaHei"/>
              </a:defRPr>
            </a:pPr>
            <a:r>
              <a:t>时间: 2周</a:t>
            </a:r>
          </a:p>
          <a:p>
            <a:pPr lvl="1">
              <a:lnSpc>
                <a:spcPct val="110000"/>
              </a:lnSpc>
              <a:spcBef>
                <a:spcPts val="500"/>
              </a:spcBef>
              <a:defRPr sz="1900" b="0">
                <a:solidFill>
                  <a:srgbClr val="333333"/>
                </a:solidFill>
                <a:latin typeface="Microsoft YaHei"/>
              </a:defRPr>
            </a:pPr>
            <a:r>
              <a:t>任务: ROS 2环境安装、相机外参标定、探针制作与Ground Truth采集、特征图金标准采集</a:t>
            </a:r>
          </a:p>
          <a:p>
            <a:pPr lvl="1">
              <a:lnSpc>
                <a:spcPct val="110000"/>
              </a:lnSpc>
              <a:spcBef>
                <a:spcPts val="500"/>
              </a:spcBef>
              <a:defRPr sz="1900" b="0">
                <a:solidFill>
                  <a:srgbClr val="333333"/>
                </a:solidFill>
                <a:latin typeface="Microsoft YaHei"/>
              </a:defRPr>
            </a:pPr>
            <a:r>
              <a:t>指标: 软时间插值抖动 &lt; 10ms, 重投影误差 RMSE &lt; 1.5像素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  <a:latin typeface="Microsoft YaHei"/>
              </a:defRPr>
            </a:pPr>
            <a:r>
              <a:t>系统开发与任务拆解: Phase 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787878"/>
                </a:solidFill>
                <a:latin typeface="Microsoft YaHei"/>
              </a:defRPr>
            </a:pPr>
            <a:r>
              <a:t>RJ2506 双臂轮式复合机器人 | 核心技术攻坚与系统架构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lnSpc>
                <a:spcPct val="110000"/>
              </a:lnSpc>
              <a:spcBef>
                <a:spcPts val="500"/>
              </a:spcBef>
              <a:defRPr sz="2200" b="1">
                <a:solidFill>
                  <a:srgbClr val="0066CC"/>
                </a:solidFill>
                <a:latin typeface="Microsoft YaHei"/>
              </a:defRPr>
            </a:pPr>
            <a:r>
              <a:t>Phase 1: 核心硬骨头算法模块攻坚 (研发重点)</a:t>
            </a:r>
          </a:p>
          <a:p>
            <a:pPr lvl="1">
              <a:lnSpc>
                <a:spcPct val="110000"/>
              </a:lnSpc>
              <a:spcBef>
                <a:spcPts val="500"/>
              </a:spcBef>
              <a:defRPr sz="1900" b="1">
                <a:solidFill>
                  <a:srgbClr val="FF6600"/>
                </a:solidFill>
                <a:latin typeface="Microsoft YaHei"/>
              </a:defRPr>
            </a:pPr>
            <a:r>
              <a:t>时间: 6周</a:t>
            </a:r>
          </a:p>
          <a:p>
            <a:pPr lvl="1">
              <a:lnSpc>
                <a:spcPct val="110000"/>
              </a:lnSpc>
              <a:spcBef>
                <a:spcPts val="500"/>
              </a:spcBef>
              <a:defRPr sz="1900" b="0">
                <a:solidFill>
                  <a:srgbClr val="333333"/>
                </a:solidFill>
                <a:latin typeface="Microsoft YaHei"/>
              </a:defRPr>
            </a:pPr>
            <a:r>
              <a:t>任务:</a:t>
            </a:r>
          </a:p>
          <a:p>
            <a:pPr lvl="2">
              <a:lnSpc>
                <a:spcPct val="110000"/>
              </a:lnSpc>
              <a:spcBef>
                <a:spcPts val="500"/>
              </a:spcBef>
              <a:defRPr sz="1600" b="0">
                <a:solidFill>
                  <a:srgbClr val="333333"/>
                </a:solidFill>
                <a:latin typeface="Microsoft YaHei"/>
              </a:defRPr>
            </a:pPr>
            <a:r>
              <a:t>• 双臂全身协调控制(WBC)</a:t>
            </a:r>
          </a:p>
          <a:p>
            <a:pPr lvl="2">
              <a:lnSpc>
                <a:spcPct val="110000"/>
              </a:lnSpc>
              <a:spcBef>
                <a:spcPts val="500"/>
              </a:spcBef>
              <a:defRPr sz="1600" b="0">
                <a:solidFill>
                  <a:srgbClr val="333333"/>
                </a:solidFill>
                <a:latin typeface="Microsoft YaHei"/>
              </a:defRPr>
            </a:pPr>
            <a:r>
              <a:t>• 顶层状态机</a:t>
            </a:r>
          </a:p>
          <a:p>
            <a:pPr lvl="2">
              <a:lnSpc>
                <a:spcPct val="110000"/>
              </a:lnSpc>
              <a:spcBef>
                <a:spcPts val="500"/>
              </a:spcBef>
              <a:defRPr sz="1600" b="0">
                <a:solidFill>
                  <a:srgbClr val="333333"/>
                </a:solidFill>
                <a:latin typeface="Microsoft YaHei"/>
              </a:defRPr>
            </a:pPr>
            <a:r>
              <a:t>• 双目特征提取</a:t>
            </a:r>
          </a:p>
          <a:p>
            <a:pPr lvl="2">
              <a:lnSpc>
                <a:spcPct val="110000"/>
              </a:lnSpc>
              <a:spcBef>
                <a:spcPts val="500"/>
              </a:spcBef>
              <a:defRPr sz="1600" b="0">
                <a:solidFill>
                  <a:srgbClr val="333333"/>
                </a:solidFill>
                <a:latin typeface="Microsoft YaHei"/>
              </a:defRPr>
            </a:pPr>
            <a:r>
              <a:t>• 虚拟IBVS视觉伺服</a:t>
            </a:r>
          </a:p>
          <a:p>
            <a:pPr lvl="2">
              <a:lnSpc>
                <a:spcPct val="110000"/>
              </a:lnSpc>
              <a:spcBef>
                <a:spcPts val="500"/>
              </a:spcBef>
              <a:defRPr sz="1600" b="0">
                <a:solidFill>
                  <a:srgbClr val="333333"/>
                </a:solidFill>
                <a:latin typeface="Microsoft YaHei"/>
              </a:defRPr>
            </a:pPr>
            <a:r>
              <a:t>• C++守护进程、阻抗控制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  <a:latin typeface="Microsoft YaHei"/>
              </a:defRPr>
            </a:pPr>
            <a:r>
              <a:t>系统开发与任务拆解: Phase 2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787878"/>
                </a:solidFill>
                <a:latin typeface="Microsoft YaHei"/>
              </a:defRPr>
            </a:pPr>
            <a:r>
              <a:t>RJ2506 双臂轮式复合机器人 | 核心技术攻坚与系统架构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lnSpc>
                <a:spcPct val="110000"/>
              </a:lnSpc>
              <a:spcBef>
                <a:spcPts val="500"/>
              </a:spcBef>
              <a:defRPr sz="2200" b="1">
                <a:solidFill>
                  <a:srgbClr val="0066CC"/>
                </a:solidFill>
                <a:latin typeface="Microsoft YaHei"/>
              </a:defRPr>
            </a:pPr>
            <a:r>
              <a:t>Phase 2: AI 训练与全链路联调</a:t>
            </a:r>
          </a:p>
          <a:p>
            <a:pPr lvl="1">
              <a:lnSpc>
                <a:spcPct val="110000"/>
              </a:lnSpc>
              <a:spcBef>
                <a:spcPts val="500"/>
              </a:spcBef>
              <a:defRPr sz="1900" b="1">
                <a:solidFill>
                  <a:srgbClr val="FF6600"/>
                </a:solidFill>
                <a:latin typeface="Microsoft YaHei"/>
              </a:defRPr>
            </a:pPr>
            <a:r>
              <a:t>时间: 4周</a:t>
            </a:r>
          </a:p>
          <a:p>
            <a:pPr lvl="1">
              <a:lnSpc>
                <a:spcPct val="110000"/>
              </a:lnSpc>
              <a:spcBef>
                <a:spcPts val="500"/>
              </a:spcBef>
              <a:defRPr sz="1900" b="1">
                <a:solidFill>
                  <a:srgbClr val="333333"/>
                </a:solidFill>
                <a:latin typeface="Microsoft YaHei"/>
              </a:defRPr>
            </a:pPr>
            <a:r>
              <a:t>核心任务列表:</a:t>
            </a:r>
          </a:p>
          <a:p>
            <a:pPr lvl="2">
              <a:lnSpc>
                <a:spcPct val="110000"/>
              </a:lnSpc>
              <a:spcBef>
                <a:spcPts val="500"/>
              </a:spcBef>
              <a:defRPr sz="1600" b="1">
                <a:solidFill>
                  <a:srgbClr val="003366"/>
                </a:solidFill>
                <a:latin typeface="Microsoft YaHei"/>
              </a:defRPr>
            </a:pPr>
            <a:r>
              <a:t>[2.1] 数据采集与 Sim2Real</a:t>
            </a:r>
          </a:p>
          <a:p>
            <a:pPr lvl="3">
              <a:lnSpc>
                <a:spcPct val="110000"/>
              </a:lnSpc>
              <a:spcBef>
                <a:spcPts val="500"/>
              </a:spcBef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• 录制 50 条遥操作真机数据，导入 IsaacLab</a:t>
            </a:r>
          </a:p>
          <a:p>
            <a:pPr lvl="3">
              <a:lnSpc>
                <a:spcPct val="110000"/>
              </a:lnSpc>
              <a:spcBef>
                <a:spcPts val="500"/>
              </a:spcBef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• 生成 10000 条带各种光照变异的合成数据进行扩充</a:t>
            </a:r>
          </a:p>
          <a:p>
            <a:pPr lvl="2">
              <a:lnSpc>
                <a:spcPct val="110000"/>
              </a:lnSpc>
              <a:spcBef>
                <a:spcPts val="500"/>
              </a:spcBef>
              <a:defRPr sz="1600" b="1">
                <a:solidFill>
                  <a:srgbClr val="003366"/>
                </a:solidFill>
                <a:latin typeface="Microsoft YaHei"/>
              </a:defRPr>
            </a:pPr>
            <a:r>
              <a:t>[2.2] DP 模型训练与 TensorRT 部署</a:t>
            </a:r>
          </a:p>
          <a:p>
            <a:pPr lvl="3">
              <a:lnSpc>
                <a:spcPct val="110000"/>
              </a:lnSpc>
              <a:spcBef>
                <a:spcPts val="500"/>
              </a:spcBef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• 在 H100 集群上完成 Diffusion Policy 训练</a:t>
            </a:r>
          </a:p>
          <a:p>
            <a:pPr lvl="3">
              <a:lnSpc>
                <a:spcPct val="110000"/>
              </a:lnSpc>
              <a:spcBef>
                <a:spcPts val="500"/>
              </a:spcBef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• Orin 边缘端 TensorRT 部署，保证推理延迟 &lt; 30ms</a:t>
            </a:r>
          </a:p>
          <a:p>
            <a:pPr lvl="2">
              <a:lnSpc>
                <a:spcPct val="110000"/>
              </a:lnSpc>
              <a:spcBef>
                <a:spcPts val="500"/>
              </a:spcBef>
              <a:defRPr sz="1600" b="1">
                <a:solidFill>
                  <a:srgbClr val="003366"/>
                </a:solidFill>
                <a:latin typeface="Microsoft YaHei"/>
              </a:defRPr>
            </a:pPr>
            <a:r>
              <a:t>[2.3] 大脑节点 (Brain Node) 实车串联</a:t>
            </a:r>
          </a:p>
          <a:p>
            <a:pPr lvl="3">
              <a:lnSpc>
                <a:spcPct val="110000"/>
              </a:lnSpc>
              <a:spcBef>
                <a:spcPts val="500"/>
              </a:spcBef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• 将 Nav2 -&gt; ACT -&gt; Feature Memory -&gt; IBVS -&gt; Touch-down 管线在真机完全打通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336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400" b="1">
                <a:solidFill>
                  <a:srgbClr val="FFFFFF"/>
                </a:solidFill>
              </a:defRPr>
            </a:pPr>
            <a:r>
              <a:t>THANKS</a:t>
            </a:r>
          </a:p>
          <a:p>
            <a:pPr algn="ctr">
              <a:defRPr sz="2600">
                <a:solidFill>
                  <a:srgbClr val="C8DCFF"/>
                </a:solidFill>
              </a:defRPr>
            </a:pPr>
            <a:r>
              <a:t>只有底层基石 100% 夯实，AI 端到端才有意义。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